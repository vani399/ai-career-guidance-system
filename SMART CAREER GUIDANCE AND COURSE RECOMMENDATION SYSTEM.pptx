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9711172-31BF-49F3-88C8-8C6D57743B5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982625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9711172-31BF-49F3-88C8-8C6D57743B5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2851193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9711172-31BF-49F3-88C8-8C6D57743B5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306663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9711172-31BF-49F3-88C8-8C6D57743B5B}"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759360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9711172-31BF-49F3-88C8-8C6D57743B5B}" type="datetimeFigureOut">
              <a:rPr lang="en-IN" smtClean="0"/>
              <a:t>01-06-2026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2488886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9711172-31BF-49F3-88C8-8C6D57743B5B}" type="datetimeFigureOut">
              <a:rPr lang="en-IN" smtClean="0"/>
              <a:t>01-06-2026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2578209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711172-31BF-49F3-88C8-8C6D57743B5B}" type="datetimeFigureOut">
              <a:rPr lang="en-IN" smtClean="0"/>
              <a:t>01-06-2026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265100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9711172-31BF-49F3-88C8-8C6D57743B5B}"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3623963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9711172-31BF-49F3-88C8-8C6D57743B5B}" type="datetimeFigureOut">
              <a:rPr lang="en-IN" smtClean="0"/>
              <a:t>01-06-2026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2313806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9711172-31BF-49F3-88C8-8C6D57743B5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1249500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9711172-31BF-49F3-88C8-8C6D57743B5B}" type="datetimeFigureOut">
              <a:rPr lang="en-IN" smtClean="0"/>
              <a:t>01-06-2026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7991B7-5AAB-4068-BC7C-F1EF40E7B2D0}" type="slidenum">
              <a:rPr lang="en-IN" smtClean="0"/>
              <a:t>‹#›</a:t>
            </a:fld>
            <a:endParaRPr lang="en-IN"/>
          </a:p>
        </p:txBody>
      </p:sp>
    </p:spTree>
    <p:extLst>
      <p:ext uri="{BB962C8B-B14F-4D97-AF65-F5344CB8AC3E}">
        <p14:creationId xmlns:p14="http://schemas.microsoft.com/office/powerpoint/2010/main" val="1476108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711172-31BF-49F3-88C8-8C6D57743B5B}" type="datetimeFigureOut">
              <a:rPr lang="en-IN" smtClean="0"/>
              <a:t>01-06-2026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7991B7-5AAB-4068-BC7C-F1EF40E7B2D0}" type="slidenum">
              <a:rPr lang="en-IN" smtClean="0"/>
              <a:t>‹#›</a:t>
            </a:fld>
            <a:endParaRPr lang="en-IN"/>
          </a:p>
        </p:txBody>
      </p:sp>
    </p:spTree>
    <p:extLst>
      <p:ext uri="{BB962C8B-B14F-4D97-AF65-F5344CB8AC3E}">
        <p14:creationId xmlns:p14="http://schemas.microsoft.com/office/powerpoint/2010/main" val="912394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60945" y="2203018"/>
            <a:ext cx="9144000" cy="2387600"/>
          </a:xfrm>
        </p:spPr>
        <p:txBody>
          <a:bodyPr>
            <a:noAutofit/>
          </a:bodyPr>
          <a:lstStyle/>
          <a:p>
            <a:r>
              <a:rPr lang="en-IN" sz="5400" b="1" dirty="0" smtClean="0"/>
              <a:t>SMART CAREER GUIDANCE AND COURSE RECOMMENDATION SYSTEM</a:t>
            </a:r>
            <a:endParaRPr lang="en-IN" sz="5400" b="1" dirty="0"/>
          </a:p>
        </p:txBody>
      </p:sp>
    </p:spTree>
    <p:extLst>
      <p:ext uri="{BB962C8B-B14F-4D97-AF65-F5344CB8AC3E}">
        <p14:creationId xmlns:p14="http://schemas.microsoft.com/office/powerpoint/2010/main" val="4063410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2800" y="410059"/>
            <a:ext cx="10280073" cy="5355312"/>
          </a:xfrm>
          <a:prstGeom prst="rect">
            <a:avLst/>
          </a:prstGeom>
        </p:spPr>
        <p:txBody>
          <a:bodyPr wrap="square">
            <a:spAutoFit/>
          </a:bodyPr>
          <a:lstStyle/>
          <a:p>
            <a:pPr algn="just"/>
            <a:r>
              <a:rPr lang="en-IN" dirty="0" smtClean="0"/>
              <a:t>                                                                          </a:t>
            </a:r>
            <a:r>
              <a:rPr lang="en-IN" b="1" dirty="0" smtClean="0"/>
              <a:t>ABSTRACT</a:t>
            </a:r>
          </a:p>
          <a:p>
            <a:pPr algn="just"/>
            <a:endParaRPr lang="en-IN" dirty="0" smtClean="0"/>
          </a:p>
          <a:p>
            <a:pPr marL="285750" indent="-285750">
              <a:buFont typeface="Arial" panose="020B0604020202020204" pitchFamily="34" charset="0"/>
              <a:buChar char="•"/>
            </a:pPr>
            <a:r>
              <a:rPr lang="en-IN" dirty="0" smtClean="0"/>
              <a:t>Smart Career Guidance and Course Recommendation System is an integrated web-based application developed to help students choose suitable career paths after completing their school education. The system is developed using HTML, CSS, and JavaScript for client-side development, Python with the Flask framework for server-side processing, and SQLite for database management. The system provides a centralized platform where students can assess their interests and receive guidance on appropriate courses and career options. The application overcomes the limitations of traditional career guidance methods by providing automated recommendations, structured information about courses, and easy access to educational resources.</a:t>
            </a:r>
          </a:p>
          <a:p>
            <a:pPr marL="285750" indent="-285750">
              <a:buFont typeface="Arial" panose="020B0604020202020204" pitchFamily="34" charset="0"/>
              <a:buChar char="•"/>
            </a:pPr>
            <a:r>
              <a:rPr lang="en-IN" dirty="0" smtClean="0"/>
              <a:t>The system is divided into several important modules such as User Registration and Login, Career Assessment, Course Recommendation, Skills Guidance, and College Information. The Career Assessment module allows students to answer a set of aptitude-based questions designed to understand their interests and strengths. Based on the student’s responses, the system </a:t>
            </a:r>
            <a:r>
              <a:rPr lang="en-IN" dirty="0" err="1" smtClean="0"/>
              <a:t>analyzes</a:t>
            </a:r>
            <a:r>
              <a:rPr lang="en-IN" dirty="0" smtClean="0"/>
              <a:t> the results and recommends suitable courses along with details such as duration and eligibility. The Skills module provides information about skills required for the recommended courses along with links to online learning platforms. Additionally, the system provides information about colleges offering the recommended courses and allows students to download city-wise college lists. This system helps students make informed career decisions and simplifies the process of selecting higher education paths. </a:t>
            </a:r>
            <a:endParaRPr lang="en-IN" dirty="0"/>
          </a:p>
        </p:txBody>
      </p:sp>
    </p:spTree>
    <p:extLst>
      <p:ext uri="{BB962C8B-B14F-4D97-AF65-F5344CB8AC3E}">
        <p14:creationId xmlns:p14="http://schemas.microsoft.com/office/powerpoint/2010/main" val="2028247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0509" y="640738"/>
            <a:ext cx="10104581" cy="5355312"/>
          </a:xfrm>
          <a:prstGeom prst="rect">
            <a:avLst/>
          </a:prstGeom>
        </p:spPr>
        <p:txBody>
          <a:bodyPr wrap="square">
            <a:spAutoFit/>
          </a:bodyPr>
          <a:lstStyle/>
          <a:p>
            <a:r>
              <a:rPr lang="en-IN" dirty="0"/>
              <a:t> </a:t>
            </a:r>
            <a:r>
              <a:rPr lang="en-IN" dirty="0" smtClean="0"/>
              <a:t>                                                                          </a:t>
            </a:r>
            <a:r>
              <a:rPr lang="en-IN" b="1" dirty="0" smtClean="0"/>
              <a:t>INTRODUCTION</a:t>
            </a:r>
          </a:p>
          <a:p>
            <a:endParaRPr lang="en-IN" dirty="0" smtClean="0"/>
          </a:p>
          <a:p>
            <a:pPr marL="285750" indent="-285750">
              <a:buFont typeface="Arial" panose="020B0604020202020204" pitchFamily="34" charset="0"/>
              <a:buChar char="•"/>
            </a:pPr>
            <a:r>
              <a:rPr lang="en-IN" dirty="0" smtClean="0"/>
              <a:t>Choosing the right career path is one of the most important decisions in a student’s life. Many students face confusion after completing their school education due to a lack of proper guidance and limited information about available courses and career opportunities. Traditional career guidance methods often rely on manual </a:t>
            </a:r>
            <a:r>
              <a:rPr lang="en-IN" dirty="0" err="1" smtClean="0"/>
              <a:t>counseling</a:t>
            </a:r>
            <a:r>
              <a:rPr lang="en-IN" dirty="0" smtClean="0"/>
              <a:t>, which may not always provide personalized recommendations for every student.</a:t>
            </a:r>
          </a:p>
          <a:p>
            <a:pPr marL="285750" indent="-285750">
              <a:buFont typeface="Arial" panose="020B0604020202020204" pitchFamily="34" charset="0"/>
              <a:buChar char="•"/>
            </a:pPr>
            <a:r>
              <a:rPr lang="en-IN" dirty="0" smtClean="0"/>
              <a:t>The Smart Career Guidance and Course Recommendation System is developed to address these challenges by providing a digital platform that helps students identify suitable career paths based on their interests and abilities. The system uses a web-based architecture where users can access the platform through a web browser, and the server processes requests using Python with the Flask framework while storing data in a database.</a:t>
            </a:r>
          </a:p>
          <a:p>
            <a:pPr marL="285750" indent="-285750">
              <a:buFont typeface="Arial" panose="020B0604020202020204" pitchFamily="34" charset="0"/>
              <a:buChar char="•"/>
            </a:pPr>
            <a:r>
              <a:rPr lang="en-IN" dirty="0" smtClean="0"/>
              <a:t>The system offers:</a:t>
            </a:r>
          </a:p>
          <a:p>
            <a:r>
              <a:rPr lang="en-IN" dirty="0" smtClean="0"/>
              <a:t>     Career aptitude assessment for students</a:t>
            </a:r>
          </a:p>
          <a:p>
            <a:r>
              <a:rPr lang="en-IN" dirty="0" smtClean="0"/>
              <a:t>     Automated course recommendations based on assessment results</a:t>
            </a:r>
          </a:p>
          <a:p>
            <a:r>
              <a:rPr lang="en-IN" dirty="0" smtClean="0"/>
              <a:t>     Information about course duration and eligibility</a:t>
            </a:r>
          </a:p>
          <a:p>
            <a:r>
              <a:rPr lang="en-IN" dirty="0" smtClean="0"/>
              <a:t>     Skill suggestions and learning platform links</a:t>
            </a:r>
          </a:p>
          <a:p>
            <a:r>
              <a:rPr lang="en-IN" dirty="0" smtClean="0"/>
              <a:t>     Access to city-wise college information</a:t>
            </a:r>
          </a:p>
          <a:p>
            <a:r>
              <a:rPr lang="en-IN" dirty="0" smtClean="0"/>
              <a:t> </a:t>
            </a:r>
            <a:endParaRPr lang="en-IN" dirty="0"/>
          </a:p>
        </p:txBody>
      </p:sp>
    </p:spTree>
    <p:extLst>
      <p:ext uri="{BB962C8B-B14F-4D97-AF65-F5344CB8AC3E}">
        <p14:creationId xmlns:p14="http://schemas.microsoft.com/office/powerpoint/2010/main" val="2689121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3854" y="591128"/>
            <a:ext cx="10307782" cy="5632311"/>
          </a:xfrm>
          <a:prstGeom prst="rect">
            <a:avLst/>
          </a:prstGeom>
        </p:spPr>
        <p:txBody>
          <a:bodyPr wrap="square">
            <a:spAutoFit/>
          </a:bodyPr>
          <a:lstStyle/>
          <a:p>
            <a:r>
              <a:rPr lang="en-IN" dirty="0" smtClean="0"/>
              <a:t>                                                                          </a:t>
            </a:r>
            <a:r>
              <a:rPr lang="en-IN" b="1" dirty="0" smtClean="0"/>
              <a:t>SOFTWARE DESIGN</a:t>
            </a:r>
          </a:p>
          <a:p>
            <a:endParaRPr lang="en-IN" dirty="0" smtClean="0"/>
          </a:p>
          <a:p>
            <a:pPr marL="285750" indent="-285750">
              <a:buFont typeface="Arial" panose="020B0604020202020204" pitchFamily="34" charset="0"/>
              <a:buChar char="•"/>
            </a:pPr>
            <a:r>
              <a:rPr lang="en-IN" dirty="0" smtClean="0"/>
              <a:t>Software design defines how the components of a system are structured and how they interact to achieve the project objectives. The process flow of the Career Recommendation System provides an overview of how the application works, from user input to generating personalized career recommendations.</a:t>
            </a:r>
          </a:p>
          <a:p>
            <a:pPr marL="285750" indent="-285750">
              <a:buFont typeface="Arial" panose="020B0604020202020204" pitchFamily="34" charset="0"/>
              <a:buChar char="•"/>
            </a:pPr>
            <a:r>
              <a:rPr lang="en-IN" dirty="0" smtClean="0"/>
              <a:t>The system follows a client-server architecture, where the frontend acts as the client and the backend acts as the server. The frontend provides an interactive web interface for users to enter their details and answer the aptitude questionnaire. The backend processes user inputs, performs machine learning computations using the KNN algorithm, interacts with the database, and generates recommendations.</a:t>
            </a:r>
          </a:p>
          <a:p>
            <a:pPr marL="285750" indent="-285750">
              <a:buFont typeface="Arial" panose="020B0604020202020204" pitchFamily="34" charset="0"/>
              <a:buChar char="•"/>
            </a:pPr>
            <a:r>
              <a:rPr lang="en-IN" dirty="0" smtClean="0"/>
              <a:t>The overall process flow is as follows:</a:t>
            </a:r>
          </a:p>
          <a:p>
            <a:r>
              <a:rPr lang="en-IN" dirty="0" smtClean="0"/>
              <a:t>        User registers and logs into the system</a:t>
            </a:r>
          </a:p>
          <a:p>
            <a:r>
              <a:rPr lang="en-IN" dirty="0" smtClean="0"/>
              <a:t>        User completes the aptitude questionnaire</a:t>
            </a:r>
          </a:p>
          <a:p>
            <a:r>
              <a:rPr lang="en-IN" dirty="0" smtClean="0"/>
              <a:t>        Responses are sent to the backend</a:t>
            </a:r>
          </a:p>
          <a:p>
            <a:r>
              <a:rPr lang="en-IN" dirty="0" smtClean="0"/>
              <a:t>        KNN algorithm processes the input and finds similar patterns</a:t>
            </a:r>
          </a:p>
          <a:p>
            <a:r>
              <a:rPr lang="en-IN" dirty="0" smtClean="0"/>
              <a:t>        System predicts suitable career paths and courses.</a:t>
            </a:r>
          </a:p>
          <a:p>
            <a:pPr marL="285750" indent="-285750">
              <a:buFont typeface="Arial" panose="020B0604020202020204" pitchFamily="34" charset="0"/>
              <a:buChar char="•"/>
            </a:pPr>
            <a:r>
              <a:rPr lang="en-IN" dirty="0" smtClean="0"/>
              <a:t>Upon generating recommendations, the following steps are performed:</a:t>
            </a:r>
          </a:p>
          <a:p>
            <a:r>
              <a:rPr lang="en-IN" dirty="0" smtClean="0"/>
              <a:t>        Recommended courses are fetched from the database</a:t>
            </a:r>
          </a:p>
          <a:p>
            <a:r>
              <a:rPr lang="en-IN" dirty="0" smtClean="0"/>
              <a:t>        Course details (duration, eligibility) are displayed</a:t>
            </a:r>
          </a:p>
          <a:p>
            <a:r>
              <a:rPr lang="en-IN" dirty="0" smtClean="0"/>
              <a:t>        City-based college data is retrieved</a:t>
            </a:r>
          </a:p>
          <a:p>
            <a:r>
              <a:rPr lang="en-IN" dirty="0"/>
              <a:t> </a:t>
            </a:r>
            <a:r>
              <a:rPr lang="en-IN" dirty="0" smtClean="0"/>
              <a:t>       Final recommendations are shown on the dashboard</a:t>
            </a:r>
            <a:endParaRPr lang="en-IN" dirty="0"/>
          </a:p>
        </p:txBody>
      </p:sp>
    </p:spTree>
    <p:extLst>
      <p:ext uri="{BB962C8B-B14F-4D97-AF65-F5344CB8AC3E}">
        <p14:creationId xmlns:p14="http://schemas.microsoft.com/office/powerpoint/2010/main" val="590730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17600" y="1148830"/>
            <a:ext cx="10381672" cy="4524315"/>
          </a:xfrm>
          <a:prstGeom prst="rect">
            <a:avLst/>
          </a:prstGeom>
        </p:spPr>
        <p:txBody>
          <a:bodyPr wrap="square">
            <a:spAutoFit/>
          </a:bodyPr>
          <a:lstStyle/>
          <a:p>
            <a:r>
              <a:rPr lang="en-IN" dirty="0" smtClean="0"/>
              <a:t>                                                         CODING AND IMPLEMENTATION</a:t>
            </a:r>
          </a:p>
          <a:p>
            <a:endParaRPr lang="en-IN" dirty="0" smtClean="0"/>
          </a:p>
          <a:p>
            <a:pPr marL="285750" indent="-285750">
              <a:buFont typeface="Arial" panose="020B0604020202020204" pitchFamily="34" charset="0"/>
              <a:buChar char="•"/>
            </a:pPr>
            <a:r>
              <a:rPr lang="en-IN" dirty="0" smtClean="0"/>
              <a:t>Writing and Assembling the Software Code Based on the Design</a:t>
            </a:r>
          </a:p>
          <a:p>
            <a:r>
              <a:rPr lang="en-IN" dirty="0" smtClean="0"/>
              <a:t>The coding and implementation phase is the stage where the system design is transformed into a fully functional software application. The Career Recommendation System is implemented as a web-based application with a modular architecture.</a:t>
            </a:r>
          </a:p>
          <a:p>
            <a:pPr marL="285750" indent="-285750">
              <a:buFont typeface="Arial" panose="020B0604020202020204" pitchFamily="34" charset="0"/>
              <a:buChar char="•"/>
            </a:pPr>
            <a:r>
              <a:rPr lang="en-IN" dirty="0" smtClean="0"/>
              <a:t>The backend is developed using Python with the Flask framework, which handles routing, business logic, database operations, and machine learning integration using the KNN algorithm. The frontend is developed using HTML, CSS, and JavaScript, which provides an interactive user interface for users.</a:t>
            </a:r>
          </a:p>
          <a:p>
            <a:pPr marL="285750" indent="-285750">
              <a:buFont typeface="Arial" panose="020B0604020202020204" pitchFamily="34" charset="0"/>
              <a:buChar char="•"/>
            </a:pPr>
            <a:r>
              <a:rPr lang="en-IN" dirty="0" smtClean="0"/>
              <a:t>The frontend and backend are separated to improve code readability, maintainability, and scalability. Configuration files are used to store important details such as database configuration and secret keys.</a:t>
            </a:r>
          </a:p>
          <a:p>
            <a:pPr marL="285750" indent="-285750">
              <a:buFont typeface="Arial" panose="020B0604020202020204" pitchFamily="34" charset="0"/>
              <a:buChar char="•"/>
            </a:pPr>
            <a:r>
              <a:rPr lang="en-IN" dirty="0" smtClean="0"/>
              <a:t>The database is implemented using SQLite, and database models are created using </a:t>
            </a:r>
            <a:r>
              <a:rPr lang="en-IN" dirty="0" err="1" smtClean="0"/>
              <a:t>SQLAlchemy</a:t>
            </a:r>
            <a:r>
              <a:rPr lang="en-IN" dirty="0" smtClean="0"/>
              <a:t>. Tables such as Users, Courses, Colleges, User Responses, and Recommendations are defined as model </a:t>
            </a:r>
            <a:r>
              <a:rPr lang="en-IN" dirty="0" err="1" smtClean="0"/>
              <a:t>classes.Each</a:t>
            </a:r>
            <a:r>
              <a:rPr lang="en-IN" dirty="0" smtClean="0"/>
              <a:t> module of the system was developed and tested individually. After successful unit testing, all modules were integrated, and system-level testing was performed to ensure smooth functionality and error-free execution.</a:t>
            </a:r>
            <a:endParaRPr lang="en-IN" dirty="0"/>
          </a:p>
        </p:txBody>
      </p:sp>
    </p:spTree>
    <p:extLst>
      <p:ext uri="{BB962C8B-B14F-4D97-AF65-F5344CB8AC3E}">
        <p14:creationId xmlns:p14="http://schemas.microsoft.com/office/powerpoint/2010/main" val="110117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9672" y="117693"/>
            <a:ext cx="11148291" cy="6740307"/>
          </a:xfrm>
          <a:prstGeom prst="rect">
            <a:avLst/>
          </a:prstGeom>
        </p:spPr>
        <p:txBody>
          <a:bodyPr wrap="square">
            <a:spAutoFit/>
          </a:bodyPr>
          <a:lstStyle/>
          <a:p>
            <a:r>
              <a:rPr lang="en-IN" dirty="0"/>
              <a:t> </a:t>
            </a:r>
            <a:r>
              <a:rPr lang="en-IN" dirty="0" smtClean="0"/>
              <a:t>                                                   </a:t>
            </a:r>
            <a:r>
              <a:rPr lang="en-IN" b="1" dirty="0" smtClean="0"/>
              <a:t>Development of Features and Modules</a:t>
            </a:r>
          </a:p>
          <a:p>
            <a:endParaRPr lang="en-IN" dirty="0" smtClean="0"/>
          </a:p>
          <a:p>
            <a:r>
              <a:rPr lang="en-IN" dirty="0" smtClean="0"/>
              <a:t>The system is divided into multiple functional modules, each responsible for a specific task. User Module</a:t>
            </a:r>
          </a:p>
          <a:p>
            <a:r>
              <a:rPr lang="en-IN" dirty="0" smtClean="0"/>
              <a:t>This module handles user registration and login functionalities. Users can create accounts, log in securely, and access personalized recommendations.</a:t>
            </a:r>
          </a:p>
          <a:p>
            <a:pPr marL="285750" indent="-285750">
              <a:buFont typeface="Arial" panose="020B0604020202020204" pitchFamily="34" charset="0"/>
              <a:buChar char="•"/>
            </a:pPr>
            <a:r>
              <a:rPr lang="en-IN" dirty="0" smtClean="0"/>
              <a:t>Aptitude Questionnaire Module:</a:t>
            </a:r>
          </a:p>
          <a:p>
            <a:r>
              <a:rPr lang="en-IN" dirty="0" smtClean="0"/>
              <a:t>         This module presents a set of structured questions to users to understand their interests, skills, and preferences. The responses collected from users serve as input for the recommendation system.</a:t>
            </a:r>
          </a:p>
          <a:p>
            <a:pPr marL="285750" indent="-285750">
              <a:buFont typeface="Arial" panose="020B0604020202020204" pitchFamily="34" charset="0"/>
              <a:buChar char="•"/>
            </a:pPr>
            <a:r>
              <a:rPr lang="en-IN" dirty="0" smtClean="0"/>
              <a:t>Recommendation Module (KNN):</a:t>
            </a:r>
          </a:p>
          <a:p>
            <a:r>
              <a:rPr lang="en-IN" dirty="0" smtClean="0"/>
              <a:t>         This is the core module of the system. It uses the K-Nearest </a:t>
            </a:r>
            <a:r>
              <a:rPr lang="en-IN" dirty="0" err="1" smtClean="0"/>
              <a:t>Neighbors</a:t>
            </a:r>
            <a:r>
              <a:rPr lang="en-IN" dirty="0" smtClean="0"/>
              <a:t> (KNN) algorithm to </a:t>
            </a:r>
            <a:r>
              <a:rPr lang="en-IN" dirty="0" err="1" smtClean="0"/>
              <a:t>analyze</a:t>
            </a:r>
            <a:r>
              <a:rPr lang="en-IN" dirty="0" smtClean="0"/>
              <a:t> user responses and predict the most suitable course.</a:t>
            </a:r>
          </a:p>
          <a:p>
            <a:pPr marL="285750" indent="-285750">
              <a:buFont typeface="Arial" panose="020B0604020202020204" pitchFamily="34" charset="0"/>
              <a:buChar char="•"/>
            </a:pPr>
            <a:r>
              <a:rPr lang="en-IN" dirty="0" smtClean="0"/>
              <a:t>Course Management Module:</a:t>
            </a:r>
          </a:p>
          <a:p>
            <a:r>
              <a:rPr lang="en-IN" dirty="0" smtClean="0"/>
              <a:t>          This module manages course-related data such as course name, duration, eligibility, and stream. </a:t>
            </a:r>
          </a:p>
          <a:p>
            <a:pPr marL="285750" indent="-285750">
              <a:buFont typeface="Arial" panose="020B0604020202020204" pitchFamily="34" charset="0"/>
              <a:buChar char="•"/>
            </a:pPr>
            <a:r>
              <a:rPr lang="en-IN" dirty="0" smtClean="0"/>
              <a:t>College Recommendation Module:</a:t>
            </a:r>
          </a:p>
          <a:p>
            <a:r>
              <a:rPr lang="en-IN" dirty="0" smtClean="0"/>
              <a:t>       This module provides a list of colleges offering the recommended course. It filters colleges based on the user’s selected city and displays relevant results.</a:t>
            </a:r>
          </a:p>
          <a:p>
            <a:pPr marL="285750" indent="-285750">
              <a:buFont typeface="Arial" panose="020B0604020202020204" pitchFamily="34" charset="0"/>
              <a:buChar char="•"/>
            </a:pPr>
            <a:r>
              <a:rPr lang="en-IN" dirty="0" smtClean="0"/>
              <a:t>Database Management Module:</a:t>
            </a:r>
          </a:p>
          <a:p>
            <a:r>
              <a:rPr lang="en-US" dirty="0" smtClean="0"/>
              <a:t>       This module handles data storage and retrieval using SQLite and </a:t>
            </a:r>
            <a:r>
              <a:rPr lang="en-US" dirty="0" err="1" smtClean="0"/>
              <a:t>SQLAlchemy.Relationships</a:t>
            </a:r>
            <a:r>
              <a:rPr lang="en-US" dirty="0" smtClean="0"/>
              <a:t> between tables are maintained using foreign keys.</a:t>
            </a:r>
          </a:p>
          <a:p>
            <a:pPr marL="285750" indent="-285750">
              <a:buFont typeface="Arial" panose="020B0604020202020204" pitchFamily="34" charset="0"/>
              <a:buChar char="•"/>
            </a:pPr>
            <a:r>
              <a:rPr lang="en-US" dirty="0" smtClean="0"/>
              <a:t>Reporting and Display Module</a:t>
            </a:r>
          </a:p>
          <a:p>
            <a:r>
              <a:rPr lang="en-US" dirty="0" smtClean="0"/>
              <a:t>This module displays results in a structured and user-friendly format.</a:t>
            </a:r>
          </a:p>
          <a:p>
            <a:r>
              <a:rPr lang="en-US" dirty="0" smtClean="0"/>
              <a:t>The displayed data includes:</a:t>
            </a:r>
          </a:p>
          <a:p>
            <a:r>
              <a:rPr lang="en-US" dirty="0"/>
              <a:t> </a:t>
            </a:r>
            <a:r>
              <a:rPr lang="en-US" dirty="0" smtClean="0"/>
              <a:t>    Predicted </a:t>
            </a:r>
            <a:r>
              <a:rPr lang="en-US" dirty="0" err="1" smtClean="0"/>
              <a:t>course,Recommended</a:t>
            </a:r>
            <a:r>
              <a:rPr lang="en-US" dirty="0" smtClean="0"/>
              <a:t> </a:t>
            </a:r>
            <a:r>
              <a:rPr lang="en-US" dirty="0" err="1" smtClean="0"/>
              <a:t>courses,Course</a:t>
            </a:r>
            <a:r>
              <a:rPr lang="en-US" dirty="0" smtClean="0"/>
              <a:t> details, City-based college list</a:t>
            </a:r>
          </a:p>
          <a:p>
            <a:endParaRPr lang="en-IN" dirty="0" smtClean="0"/>
          </a:p>
        </p:txBody>
      </p:sp>
    </p:spTree>
    <p:extLst>
      <p:ext uri="{BB962C8B-B14F-4D97-AF65-F5344CB8AC3E}">
        <p14:creationId xmlns:p14="http://schemas.microsoft.com/office/powerpoint/2010/main" val="2146608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56145" y="280934"/>
            <a:ext cx="10141528" cy="5909310"/>
          </a:xfrm>
          <a:prstGeom prst="rect">
            <a:avLst/>
          </a:prstGeom>
        </p:spPr>
        <p:txBody>
          <a:bodyPr wrap="square">
            <a:spAutoFit/>
          </a:bodyPr>
          <a:lstStyle/>
          <a:p>
            <a:r>
              <a:rPr lang="en-IN" dirty="0" smtClean="0"/>
              <a:t>                                                                                  CONCLUSION</a:t>
            </a:r>
          </a:p>
          <a:p>
            <a:endParaRPr lang="en-IN" dirty="0" smtClean="0"/>
          </a:p>
          <a:p>
            <a:pPr marL="285750" indent="-285750">
              <a:buFont typeface="Arial" panose="020B0604020202020204" pitchFamily="34" charset="0"/>
              <a:buChar char="•"/>
            </a:pPr>
            <a:r>
              <a:rPr lang="en-IN" dirty="0" smtClean="0"/>
              <a:t>The Career Recommendation System has been successfully designed and developed as a web-based application to assist students in choosing suitable career paths based on their interests, skills, and preferences. The primary objective of the project was to build an intelligent system that can </a:t>
            </a:r>
            <a:r>
              <a:rPr lang="en-IN" dirty="0" err="1" smtClean="0"/>
              <a:t>analyze</a:t>
            </a:r>
            <a:r>
              <a:rPr lang="en-IN" dirty="0" smtClean="0"/>
              <a:t> user responses and provide accurate course recommendations using machine learning techniques.</a:t>
            </a:r>
          </a:p>
          <a:p>
            <a:pPr marL="285750" indent="-285750">
              <a:buFont typeface="Arial" panose="020B0604020202020204" pitchFamily="34" charset="0"/>
              <a:buChar char="•"/>
            </a:pPr>
            <a:r>
              <a:rPr lang="en-IN" dirty="0" smtClean="0"/>
              <a:t>The system effectively collects user input through an aptitude-based questionnaire and processes the data using the K-Nearest </a:t>
            </a:r>
            <a:r>
              <a:rPr lang="en-IN" dirty="0" err="1" smtClean="0"/>
              <a:t>Neighbors</a:t>
            </a:r>
            <a:r>
              <a:rPr lang="en-IN" dirty="0" smtClean="0"/>
              <a:t> (KNN) algorithm to predict the most appropriate course. It also provides additional recommendations along with course details such as duration and eligibility criteria, helping users make informed decisions.</a:t>
            </a:r>
          </a:p>
          <a:p>
            <a:pPr marL="285750" indent="-285750">
              <a:buFont typeface="Arial" panose="020B0604020202020204" pitchFamily="34" charset="0"/>
              <a:buChar char="•"/>
            </a:pPr>
            <a:r>
              <a:rPr lang="en-IN" dirty="0" smtClean="0"/>
              <a:t>The application is designed to manage and display relevant data efficiently, including course information and city-wise college listings. The integration of a college recommendation feature enhances the usability of the system by connecting career guidance with real-world educational opportunities.</a:t>
            </a:r>
          </a:p>
          <a:p>
            <a:pPr marL="285750" indent="-285750">
              <a:buFont typeface="Arial" panose="020B0604020202020204" pitchFamily="34" charset="0"/>
              <a:buChar char="•"/>
            </a:pPr>
            <a:r>
              <a:rPr lang="en-IN" dirty="0" smtClean="0"/>
              <a:t>During the development of this project, practical knowledge was gained in Python programming using the Flask framework, database management using SQLite and </a:t>
            </a:r>
            <a:r>
              <a:rPr lang="en-IN" dirty="0" err="1" smtClean="0"/>
              <a:t>SQLAlchemy</a:t>
            </a:r>
            <a:r>
              <a:rPr lang="en-IN" dirty="0" smtClean="0"/>
              <a:t>, and frontend development using HTML, CSS, and Jinja2. The implementation of machine learning using the KNN algorithm provided insights into how intelligent systems can be used for decision-making applications.</a:t>
            </a:r>
          </a:p>
          <a:p>
            <a:pPr marL="285750" indent="-285750">
              <a:buFont typeface="Arial" panose="020B0604020202020204" pitchFamily="34" charset="0"/>
              <a:buChar char="•"/>
            </a:pPr>
            <a:r>
              <a:rPr lang="en-IN" dirty="0" smtClean="0"/>
              <a:t>The system has been tested and validated to ensure accurate predictions, proper data handling, and smooth user interaction. Overall, the project provides a practical understanding of full-stack web development combined with machine learning and successfully </a:t>
            </a:r>
            <a:r>
              <a:rPr lang="en-IN" dirty="0" err="1" smtClean="0"/>
              <a:t>fulfills</a:t>
            </a:r>
            <a:r>
              <a:rPr lang="en-IN" dirty="0" smtClean="0"/>
              <a:t> the requirements of an application-based software project.</a:t>
            </a:r>
            <a:endParaRPr lang="en-IN" dirty="0"/>
          </a:p>
        </p:txBody>
      </p:sp>
    </p:spTree>
    <p:extLst>
      <p:ext uri="{BB962C8B-B14F-4D97-AF65-F5344CB8AC3E}">
        <p14:creationId xmlns:p14="http://schemas.microsoft.com/office/powerpoint/2010/main" val="258416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7163" y="241464"/>
            <a:ext cx="6096000" cy="5629746"/>
          </a:xfrm>
          <a:prstGeom prst="rect">
            <a:avLst/>
          </a:prstGeom>
        </p:spPr>
        <p:txBody>
          <a:bodyPr>
            <a:spAutoFit/>
          </a:bodyPr>
          <a:lstStyle/>
          <a:p>
            <a:pPr>
              <a:lnSpc>
                <a:spcPct val="150000"/>
              </a:lnSpc>
              <a:spcBef>
                <a:spcPts val="500"/>
              </a:spcBef>
              <a:spcAft>
                <a:spcPts val="500"/>
              </a:spcAft>
            </a:pPr>
            <a:r>
              <a:rPr lang="en-US" sz="2000" b="1" dirty="0" smtClean="0">
                <a:effectLst/>
                <a:latin typeface="Times New Roman" panose="02020603050405020304" pitchFamily="18" charset="0"/>
              </a:rPr>
              <a:t>                                                 User Interface Screens</a:t>
            </a:r>
            <a:endParaRPr lang="en-US" sz="2000" dirty="0">
              <a:latin typeface="Times New Roman" panose="02020603050405020304" pitchFamily="18" charset="0"/>
            </a:endParaRPr>
          </a:p>
          <a:p>
            <a:pPr>
              <a:lnSpc>
                <a:spcPct val="150000"/>
              </a:lnSpc>
              <a:spcBef>
                <a:spcPts val="500"/>
              </a:spcBef>
              <a:spcAft>
                <a:spcPts val="500"/>
              </a:spcAft>
            </a:pPr>
            <a:r>
              <a:rPr lang="en-US" sz="2000" b="1" dirty="0" smtClean="0">
                <a:effectLst/>
                <a:latin typeface="Times New Roman" panose="02020603050405020304" pitchFamily="18" charset="0"/>
              </a:rPr>
              <a:t>Home Page</a:t>
            </a:r>
          </a:p>
          <a:p>
            <a:pPr>
              <a:lnSpc>
                <a:spcPct val="150000"/>
              </a:lnSpc>
              <a:spcBef>
                <a:spcPts val="500"/>
              </a:spcBef>
              <a:spcAft>
                <a:spcPts val="500"/>
              </a:spcAft>
            </a:pPr>
            <a:r>
              <a:rPr lang="en-US" dirty="0" smtClean="0">
                <a:latin typeface="Times New Roman" panose="02020603050405020304" pitchFamily="18" charset="0"/>
              </a:rPr>
              <a:t>The </a:t>
            </a:r>
            <a:r>
              <a:rPr lang="en-US" dirty="0">
                <a:latin typeface="Times New Roman" panose="02020603050405020304" pitchFamily="18" charset="0"/>
              </a:rPr>
              <a:t>home page provides an introduction to the system and navigation options such as login,  registration, and accessing different modules. </a:t>
            </a:r>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US" dirty="0">
              <a:latin typeface="Times New Roman" panose="02020603050405020304" pitchFamily="18" charset="0"/>
            </a:endParaRPr>
          </a:p>
          <a:p>
            <a:endParaRPr lang="en-US" dirty="0" smtClean="0">
              <a:latin typeface="Times New Roman" panose="02020603050405020304" pitchFamily="18" charset="0"/>
            </a:endParaRPr>
          </a:p>
          <a:p>
            <a:endParaRPr lang="en-IN" dirty="0"/>
          </a:p>
        </p:txBody>
      </p:sp>
      <p:pic>
        <p:nvPicPr>
          <p:cNvPr id="3" name="Picture 2" descr="C:\Users\uzer\Downloads\Screenshot_17-3-2026_194534_127.0.0.1.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397163" y="3017631"/>
            <a:ext cx="4838065" cy="2261870"/>
          </a:xfrm>
          <a:prstGeom prst="rect">
            <a:avLst/>
          </a:prstGeom>
          <a:noFill/>
          <a:ln>
            <a:noFill/>
          </a:ln>
        </p:spPr>
      </p:pic>
      <p:sp>
        <p:nvSpPr>
          <p:cNvPr id="4" name="TextBox 3"/>
          <p:cNvSpPr txBox="1"/>
          <p:nvPr/>
        </p:nvSpPr>
        <p:spPr>
          <a:xfrm>
            <a:off x="6951344" y="944057"/>
            <a:ext cx="4765964" cy="480131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User Registration </a:t>
            </a:r>
            <a:r>
              <a:rPr lang="en-US" b="1" dirty="0" smtClean="0">
                <a:latin typeface="Times New Roman" panose="02020603050405020304" pitchFamily="18" charset="0"/>
                <a:cs typeface="Times New Roman" panose="02020603050405020304" pitchFamily="18" charset="0"/>
              </a:rPr>
              <a:t>Page</a:t>
            </a:r>
          </a:p>
          <a:p>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page allows new users to create an account by entering details such as name, email, and password</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pic>
        <p:nvPicPr>
          <p:cNvPr id="5" name="Picture 4"/>
          <p:cNvPicPr>
            <a:picLocks noChangeAspect="1"/>
          </p:cNvPicPr>
          <p:nvPr/>
        </p:nvPicPr>
        <p:blipFill>
          <a:blip r:embed="rId3"/>
          <a:stretch>
            <a:fillRect/>
          </a:stretch>
        </p:blipFill>
        <p:spPr>
          <a:xfrm>
            <a:off x="6899563" y="3224641"/>
            <a:ext cx="4411345" cy="2054860"/>
          </a:xfrm>
          <a:prstGeom prst="rect">
            <a:avLst/>
          </a:prstGeom>
        </p:spPr>
      </p:pic>
    </p:spTree>
    <p:extLst>
      <p:ext uri="{BB962C8B-B14F-4D97-AF65-F5344CB8AC3E}">
        <p14:creationId xmlns:p14="http://schemas.microsoft.com/office/powerpoint/2010/main" val="3511665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5708" y="1038634"/>
            <a:ext cx="4285674" cy="3539430"/>
          </a:xfrm>
          <a:prstGeom prst="rect">
            <a:avLst/>
          </a:prstGeom>
        </p:spPr>
        <p:txBody>
          <a:bodyPr wrap="square">
            <a:spAutoFit/>
          </a:bodyPr>
          <a:lstStyle/>
          <a:p>
            <a:pPr algn="just">
              <a:lnSpc>
                <a:spcPct val="150000"/>
              </a:lnSpc>
              <a:spcBef>
                <a:spcPts val="370"/>
              </a:spcBef>
              <a:tabLst>
                <a:tab pos="234315" algn="l"/>
              </a:tabLst>
            </a:pPr>
            <a:r>
              <a:rPr lang="en-US" b="1" dirty="0">
                <a:latin typeface="Times New Roman" panose="02020603050405020304" pitchFamily="18" charset="0"/>
              </a:rPr>
              <a:t>Login Page</a:t>
            </a:r>
            <a:endParaRPr lang="en-US" sz="1600" dirty="0" smtClean="0">
              <a:effectLst/>
              <a:latin typeface="Times New Roman" panose="02020603050405020304" pitchFamily="18" charset="0"/>
            </a:endParaRPr>
          </a:p>
          <a:p>
            <a:pPr algn="just">
              <a:lnSpc>
                <a:spcPct val="150000"/>
              </a:lnSpc>
              <a:spcBef>
                <a:spcPts val="370"/>
              </a:spcBef>
              <a:tabLst>
                <a:tab pos="234315" algn="l"/>
              </a:tabLst>
            </a:pPr>
            <a:r>
              <a:rPr lang="en-US" dirty="0">
                <a:latin typeface="Times New Roman" panose="02020603050405020304" pitchFamily="18" charset="0"/>
              </a:rPr>
              <a:t>Users can log in securely using their registered email ID and password</a:t>
            </a:r>
            <a:r>
              <a:rPr lang="en-US" dirty="0" smtClean="0">
                <a:latin typeface="Times New Roman" panose="02020603050405020304" pitchFamily="18" charset="0"/>
              </a:rPr>
              <a:t>.</a:t>
            </a:r>
          </a:p>
          <a:p>
            <a:pPr algn="just">
              <a:lnSpc>
                <a:spcPct val="150000"/>
              </a:lnSpc>
              <a:spcBef>
                <a:spcPts val="370"/>
              </a:spcBef>
              <a:tabLst>
                <a:tab pos="234315" algn="l"/>
              </a:tabLst>
            </a:pPr>
            <a:endParaRPr lang="en-US" sz="1600" dirty="0">
              <a:effectLst/>
              <a:latin typeface="Times New Roman" panose="02020603050405020304" pitchFamily="18" charset="0"/>
            </a:endParaRPr>
          </a:p>
          <a:p>
            <a:pPr algn="just">
              <a:lnSpc>
                <a:spcPct val="150000"/>
              </a:lnSpc>
              <a:spcBef>
                <a:spcPts val="370"/>
              </a:spcBef>
              <a:tabLst>
                <a:tab pos="234315" algn="l"/>
              </a:tabLst>
            </a:pPr>
            <a:endParaRPr lang="en-US" sz="1600" dirty="0" smtClean="0">
              <a:latin typeface="Times New Roman" panose="02020603050405020304" pitchFamily="18" charset="0"/>
            </a:endParaRPr>
          </a:p>
          <a:p>
            <a:pPr algn="just">
              <a:lnSpc>
                <a:spcPct val="150000"/>
              </a:lnSpc>
              <a:spcBef>
                <a:spcPts val="370"/>
              </a:spcBef>
              <a:tabLst>
                <a:tab pos="234315" algn="l"/>
              </a:tabLst>
            </a:pPr>
            <a:endParaRPr lang="en-US" sz="1600" dirty="0">
              <a:effectLst/>
              <a:latin typeface="Times New Roman" panose="02020603050405020304" pitchFamily="18" charset="0"/>
            </a:endParaRPr>
          </a:p>
          <a:p>
            <a:pPr algn="just">
              <a:lnSpc>
                <a:spcPct val="150000"/>
              </a:lnSpc>
              <a:spcBef>
                <a:spcPts val="370"/>
              </a:spcBef>
              <a:tabLst>
                <a:tab pos="234315" algn="l"/>
              </a:tabLst>
            </a:pPr>
            <a:endParaRPr lang="en-US" sz="1600" dirty="0" smtClean="0">
              <a:effectLst/>
              <a:latin typeface="Times New Roman" panose="02020603050405020304" pitchFamily="18" charset="0"/>
            </a:endParaRPr>
          </a:p>
          <a:p>
            <a:pPr algn="just">
              <a:lnSpc>
                <a:spcPct val="150000"/>
              </a:lnSpc>
              <a:spcBef>
                <a:spcPts val="370"/>
              </a:spcBef>
              <a:tabLst>
                <a:tab pos="234315" algn="l"/>
              </a:tabLst>
            </a:pPr>
            <a:r>
              <a:rPr lang="en-US" dirty="0">
                <a:latin typeface="Times New Roman" panose="02020603050405020304" pitchFamily="18" charset="0"/>
              </a:rPr>
              <a:t> </a:t>
            </a:r>
            <a:endParaRPr lang="en-US" sz="1600" dirty="0">
              <a:effectLst/>
              <a:latin typeface="Times New Roman" panose="02020603050405020304" pitchFamily="18" charset="0"/>
            </a:endParaRPr>
          </a:p>
        </p:txBody>
      </p:sp>
      <p:pic>
        <p:nvPicPr>
          <p:cNvPr id="3" name="Picture 2"/>
          <p:cNvPicPr>
            <a:picLocks noChangeAspect="1"/>
          </p:cNvPicPr>
          <p:nvPr/>
        </p:nvPicPr>
        <p:blipFill>
          <a:blip r:embed="rId2"/>
          <a:srcRect l="8997"/>
          <a:stretch>
            <a:fillRect/>
          </a:stretch>
        </p:blipFill>
        <p:spPr>
          <a:xfrm>
            <a:off x="535708" y="3317093"/>
            <a:ext cx="3340100" cy="2217420"/>
          </a:xfrm>
          <a:prstGeom prst="rect">
            <a:avLst/>
          </a:prstGeom>
          <a:ln>
            <a:noFill/>
          </a:ln>
        </p:spPr>
      </p:pic>
      <p:sp>
        <p:nvSpPr>
          <p:cNvPr id="4" name="Rectangle 3"/>
          <p:cNvSpPr/>
          <p:nvPr/>
        </p:nvSpPr>
        <p:spPr>
          <a:xfrm>
            <a:off x="5532583" y="1194147"/>
            <a:ext cx="6336144" cy="1392689"/>
          </a:xfrm>
          <a:prstGeom prst="rect">
            <a:avLst/>
          </a:prstGeom>
        </p:spPr>
        <p:txBody>
          <a:bodyPr wrap="square">
            <a:spAutoFit/>
          </a:bodyPr>
          <a:lstStyle/>
          <a:p>
            <a:pPr>
              <a:spcBef>
                <a:spcPts val="370"/>
              </a:spcBef>
              <a:tabLst>
                <a:tab pos="234315" algn="l"/>
              </a:tabLst>
            </a:pPr>
            <a:r>
              <a:rPr lang="en-US" b="1" dirty="0">
                <a:latin typeface="Times New Roman" panose="02020603050405020304" pitchFamily="18" charset="0"/>
              </a:rPr>
              <a:t>Dashboard</a:t>
            </a:r>
            <a:endParaRPr lang="en-US" sz="1600" dirty="0" smtClean="0">
              <a:effectLst/>
              <a:latin typeface="Times New Roman" panose="02020603050405020304" pitchFamily="18" charset="0"/>
            </a:endParaRPr>
          </a:p>
          <a:p>
            <a:pPr>
              <a:lnSpc>
                <a:spcPct val="150000"/>
              </a:lnSpc>
              <a:spcBef>
                <a:spcPts val="500"/>
              </a:spcBef>
              <a:spcAft>
                <a:spcPts val="500"/>
              </a:spcAft>
            </a:pPr>
            <a:r>
              <a:rPr lang="en-US" dirty="0">
                <a:latin typeface="Times New Roman" panose="02020603050405020304" pitchFamily="18" charset="0"/>
              </a:rPr>
              <a:t>The dashboard acts as the central interface where users can </a:t>
            </a:r>
            <a:r>
              <a:rPr lang="en-US" dirty="0" smtClean="0">
                <a:latin typeface="Times New Roman" panose="02020603050405020304" pitchFamily="18" charset="0"/>
              </a:rPr>
              <a:t>access:</a:t>
            </a:r>
          </a:p>
          <a:p>
            <a:pPr>
              <a:lnSpc>
                <a:spcPct val="150000"/>
              </a:lnSpc>
              <a:spcBef>
                <a:spcPts val="500"/>
              </a:spcBef>
              <a:spcAft>
                <a:spcPts val="500"/>
              </a:spcAft>
            </a:pPr>
            <a:r>
              <a:rPr lang="en-US" dirty="0" smtClean="0">
                <a:latin typeface="Times New Roman" panose="02020603050405020304" pitchFamily="18" charset="0"/>
              </a:rPr>
              <a:t>   Career </a:t>
            </a:r>
            <a:r>
              <a:rPr lang="en-US" dirty="0" err="1" smtClean="0">
                <a:latin typeface="Times New Roman" panose="02020603050405020304" pitchFamily="18" charset="0"/>
              </a:rPr>
              <a:t>assessment,Recommendations</a:t>
            </a:r>
            <a:r>
              <a:rPr lang="en-US" dirty="0" smtClean="0">
                <a:latin typeface="Times New Roman" panose="02020603050405020304" pitchFamily="18" charset="0"/>
              </a:rPr>
              <a:t> Colleges, </a:t>
            </a:r>
            <a:r>
              <a:rPr lang="en-US" dirty="0">
                <a:latin typeface="Times New Roman" panose="02020603050405020304" pitchFamily="18" charset="0"/>
              </a:rPr>
              <a:t>Help page</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3593" y="3477113"/>
            <a:ext cx="4049395" cy="1897380"/>
          </a:xfrm>
          <a:prstGeom prst="rect">
            <a:avLst/>
          </a:prstGeom>
        </p:spPr>
      </p:pic>
    </p:spTree>
    <p:extLst>
      <p:ext uri="{BB962C8B-B14F-4D97-AF65-F5344CB8AC3E}">
        <p14:creationId xmlns:p14="http://schemas.microsoft.com/office/powerpoint/2010/main" val="1720575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400" y="619957"/>
            <a:ext cx="5006109" cy="2108269"/>
          </a:xfrm>
          <a:prstGeom prst="rect">
            <a:avLst/>
          </a:prstGeom>
        </p:spPr>
        <p:txBody>
          <a:bodyPr wrap="square">
            <a:spAutoFit/>
          </a:bodyPr>
          <a:lstStyle/>
          <a:p>
            <a:pPr>
              <a:spcBef>
                <a:spcPts val="370"/>
              </a:spcBef>
              <a:tabLst>
                <a:tab pos="234315" algn="l"/>
              </a:tabLst>
            </a:pPr>
            <a:r>
              <a:rPr lang="en-US" sz="2000" b="1" dirty="0" smtClean="0">
                <a:effectLst/>
                <a:latin typeface="Times New Roman" panose="02020603050405020304" pitchFamily="18" charset="0"/>
              </a:rPr>
              <a:t>Career Assessment (Questionnaire Page)</a:t>
            </a:r>
            <a:endParaRPr lang="en-US" dirty="0">
              <a:latin typeface="Times New Roman" panose="02020603050405020304" pitchFamily="18" charset="0"/>
            </a:endParaRPr>
          </a:p>
          <a:p>
            <a:pPr>
              <a:spcBef>
                <a:spcPts val="370"/>
              </a:spcBef>
              <a:tabLst>
                <a:tab pos="234315" algn="l"/>
              </a:tabLst>
            </a:pPr>
            <a:r>
              <a:rPr lang="en-US" sz="2000" b="1" dirty="0" smtClean="0">
                <a:effectLst/>
                <a:latin typeface="Times New Roman" panose="02020603050405020304" pitchFamily="18" charset="0"/>
              </a:rPr>
              <a:t> </a:t>
            </a:r>
            <a:endParaRPr lang="en-US" dirty="0">
              <a:latin typeface="Times New Roman" panose="02020603050405020304" pitchFamily="18" charset="0"/>
            </a:endParaRPr>
          </a:p>
          <a:p>
            <a:pPr algn="just">
              <a:lnSpc>
                <a:spcPct val="150000"/>
              </a:lnSpc>
              <a:spcBef>
                <a:spcPts val="370"/>
              </a:spcBef>
              <a:tabLst>
                <a:tab pos="234315" algn="l"/>
              </a:tabLst>
            </a:pPr>
            <a:r>
              <a:rPr lang="en-US" dirty="0">
                <a:latin typeface="Times New Roman" panose="02020603050405020304" pitchFamily="18" charset="0"/>
              </a:rPr>
              <a:t>This page contains aptitude-based questions that help in understanding the user’s interests and skills.</a:t>
            </a:r>
          </a:p>
          <a:p>
            <a:pPr algn="just">
              <a:lnSpc>
                <a:spcPct val="150000"/>
              </a:lnSpc>
              <a:spcBef>
                <a:spcPts val="370"/>
              </a:spcBef>
              <a:tabLst>
                <a:tab pos="234315" algn="l"/>
              </a:tabLst>
            </a:pPr>
            <a:r>
              <a:rPr lang="en-US" dirty="0">
                <a:latin typeface="Times New Roman" panose="02020603050405020304" pitchFamily="18" charset="0"/>
              </a:rPr>
              <a:t>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3501" y="3285922"/>
            <a:ext cx="4844415" cy="1985645"/>
          </a:xfrm>
          <a:prstGeom prst="rect">
            <a:avLst/>
          </a:prstGeom>
        </p:spPr>
      </p:pic>
      <p:sp>
        <p:nvSpPr>
          <p:cNvPr id="4" name="Rectangle 3"/>
          <p:cNvSpPr/>
          <p:nvPr/>
        </p:nvSpPr>
        <p:spPr>
          <a:xfrm>
            <a:off x="6502401" y="703085"/>
            <a:ext cx="6096000" cy="1669688"/>
          </a:xfrm>
          <a:prstGeom prst="rect">
            <a:avLst/>
          </a:prstGeom>
        </p:spPr>
        <p:txBody>
          <a:bodyPr>
            <a:spAutoFit/>
          </a:bodyPr>
          <a:lstStyle/>
          <a:p>
            <a:pPr>
              <a:spcBef>
                <a:spcPts val="370"/>
              </a:spcBef>
              <a:tabLst>
                <a:tab pos="234315" algn="l"/>
              </a:tabLst>
            </a:pPr>
            <a:r>
              <a:rPr lang="en-US" b="1" dirty="0">
                <a:latin typeface="Times New Roman" panose="02020603050405020304" pitchFamily="18" charset="0"/>
              </a:rPr>
              <a:t>Recommendation Page</a:t>
            </a:r>
            <a:endParaRPr lang="en-US" sz="1600" dirty="0" smtClean="0">
              <a:effectLst/>
              <a:latin typeface="Times New Roman" panose="02020603050405020304" pitchFamily="18" charset="0"/>
            </a:endParaRPr>
          </a:p>
          <a:p>
            <a:pPr>
              <a:spcBef>
                <a:spcPts val="500"/>
              </a:spcBef>
              <a:spcAft>
                <a:spcPts val="500"/>
              </a:spcAft>
            </a:pPr>
            <a:r>
              <a:rPr lang="en-US" dirty="0">
                <a:latin typeface="Times New Roman" panose="02020603050405020304" pitchFamily="18" charset="0"/>
              </a:rPr>
              <a:t>This page displays:</a:t>
            </a:r>
          </a:p>
          <a:p>
            <a:pPr>
              <a:lnSpc>
                <a:spcPct val="150000"/>
              </a:lnSpc>
              <a:spcBef>
                <a:spcPts val="500"/>
              </a:spcBef>
              <a:spcAft>
                <a:spcPts val="500"/>
              </a:spcAft>
            </a:pPr>
            <a:r>
              <a:rPr lang="en-US" dirty="0">
                <a:latin typeface="Times New Roman" panose="02020603050405020304" pitchFamily="18" charset="0"/>
              </a:rPr>
              <a:t>• Predicted Course (using KNN algorithm)</a:t>
            </a:r>
            <a:br>
              <a:rPr lang="en-US" dirty="0">
                <a:latin typeface="Times New Roman" panose="02020603050405020304" pitchFamily="18" charset="0"/>
              </a:rPr>
            </a:br>
            <a:r>
              <a:rPr lang="en-US" dirty="0">
                <a:latin typeface="Times New Roman" panose="02020603050405020304" pitchFamily="18" charset="0"/>
              </a:rPr>
              <a:t>• Recommended Courses</a:t>
            </a:r>
          </a:p>
        </p:txBody>
      </p:sp>
      <p:pic>
        <p:nvPicPr>
          <p:cNvPr id="5" name="Picture 4"/>
          <p:cNvPicPr>
            <a:picLocks noChangeAspect="1"/>
          </p:cNvPicPr>
          <p:nvPr/>
        </p:nvPicPr>
        <p:blipFill>
          <a:blip r:embed="rId3"/>
          <a:srcRect l="-646"/>
          <a:stretch>
            <a:fillRect/>
          </a:stretch>
        </p:blipFill>
        <p:spPr>
          <a:xfrm>
            <a:off x="6670155" y="2889943"/>
            <a:ext cx="4411980" cy="2943860"/>
          </a:xfrm>
          <a:prstGeom prst="rect">
            <a:avLst/>
          </a:prstGeom>
          <a:ln>
            <a:noFill/>
          </a:ln>
        </p:spPr>
      </p:pic>
    </p:spTree>
    <p:extLst>
      <p:ext uri="{BB962C8B-B14F-4D97-AF65-F5344CB8AC3E}">
        <p14:creationId xmlns:p14="http://schemas.microsoft.com/office/powerpoint/2010/main" val="509901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1507" y="1319492"/>
            <a:ext cx="6096000" cy="1392689"/>
          </a:xfrm>
          <a:prstGeom prst="rect">
            <a:avLst/>
          </a:prstGeom>
        </p:spPr>
        <p:txBody>
          <a:bodyPr>
            <a:spAutoFit/>
          </a:bodyPr>
          <a:lstStyle/>
          <a:p>
            <a:pPr>
              <a:spcBef>
                <a:spcPts val="370"/>
              </a:spcBef>
              <a:tabLst>
                <a:tab pos="234315" algn="l"/>
              </a:tabLst>
            </a:pPr>
            <a:r>
              <a:rPr lang="en-US" b="1" dirty="0">
                <a:latin typeface="Times New Roman" panose="02020603050405020304" pitchFamily="18" charset="0"/>
              </a:rPr>
              <a:t>College Recommendation Page</a:t>
            </a:r>
            <a:endParaRPr lang="en-US" sz="1600" dirty="0" smtClean="0">
              <a:effectLst/>
              <a:latin typeface="Times New Roman" panose="02020603050405020304" pitchFamily="18" charset="0"/>
            </a:endParaRPr>
          </a:p>
          <a:p>
            <a:pPr>
              <a:spcBef>
                <a:spcPts val="500"/>
              </a:spcBef>
              <a:spcAft>
                <a:spcPts val="500"/>
              </a:spcAft>
            </a:pPr>
            <a:r>
              <a:rPr lang="en-US" dirty="0">
                <a:latin typeface="Times New Roman" panose="02020603050405020304" pitchFamily="18" charset="0"/>
              </a:rPr>
              <a:t>This page shows:</a:t>
            </a:r>
          </a:p>
          <a:p>
            <a:pPr>
              <a:spcBef>
                <a:spcPts val="500"/>
              </a:spcBef>
              <a:spcAft>
                <a:spcPts val="500"/>
              </a:spcAft>
            </a:pPr>
            <a:r>
              <a:rPr lang="en-US" dirty="0">
                <a:latin typeface="Times New Roman" panose="02020603050405020304" pitchFamily="18" charset="0"/>
              </a:rPr>
              <a:t>• City-wise colleges</a:t>
            </a:r>
            <a:br>
              <a:rPr lang="en-US" dirty="0">
                <a:latin typeface="Times New Roman" panose="02020603050405020304" pitchFamily="18" charset="0"/>
              </a:rPr>
            </a:br>
            <a:r>
              <a:rPr lang="en-US" dirty="0">
                <a:latin typeface="Times New Roman" panose="02020603050405020304" pitchFamily="18" charset="0"/>
              </a:rPr>
              <a:t>• Course-based filtering</a:t>
            </a:r>
          </a:p>
        </p:txBody>
      </p:sp>
      <p:pic>
        <p:nvPicPr>
          <p:cNvPr id="3" name="Picture 2"/>
          <p:cNvPicPr>
            <a:picLocks noChangeAspect="1"/>
          </p:cNvPicPr>
          <p:nvPr/>
        </p:nvPicPr>
        <p:blipFill>
          <a:blip r:embed="rId2"/>
          <a:srcRect b="20732"/>
          <a:stretch>
            <a:fillRect/>
          </a:stretch>
        </p:blipFill>
        <p:spPr>
          <a:xfrm>
            <a:off x="870816" y="3149600"/>
            <a:ext cx="3892550" cy="1981200"/>
          </a:xfrm>
          <a:prstGeom prst="rect">
            <a:avLst/>
          </a:prstGeom>
          <a:ln>
            <a:noFill/>
          </a:ln>
        </p:spPr>
      </p:pic>
      <p:sp>
        <p:nvSpPr>
          <p:cNvPr id="4" name="Rectangle 3"/>
          <p:cNvSpPr/>
          <p:nvPr/>
        </p:nvSpPr>
        <p:spPr>
          <a:xfrm>
            <a:off x="6391563" y="1319492"/>
            <a:ext cx="6096000" cy="1392689"/>
          </a:xfrm>
          <a:prstGeom prst="rect">
            <a:avLst/>
          </a:prstGeom>
        </p:spPr>
        <p:txBody>
          <a:bodyPr>
            <a:spAutoFit/>
          </a:bodyPr>
          <a:lstStyle/>
          <a:p>
            <a:pPr>
              <a:spcBef>
                <a:spcPts val="370"/>
              </a:spcBef>
              <a:tabLst>
                <a:tab pos="234315" algn="l"/>
              </a:tabLst>
            </a:pPr>
            <a:r>
              <a:rPr lang="en-US" b="1" dirty="0">
                <a:latin typeface="Times New Roman" panose="02020603050405020304" pitchFamily="18" charset="0"/>
              </a:rPr>
              <a:t>Skills Page</a:t>
            </a:r>
            <a:endParaRPr lang="en-US" sz="1600" dirty="0" smtClean="0">
              <a:effectLst/>
              <a:latin typeface="Times New Roman" panose="02020603050405020304" pitchFamily="18" charset="0"/>
            </a:endParaRPr>
          </a:p>
          <a:p>
            <a:pPr>
              <a:spcBef>
                <a:spcPts val="500"/>
              </a:spcBef>
              <a:spcAft>
                <a:spcPts val="500"/>
              </a:spcAft>
            </a:pPr>
            <a:r>
              <a:rPr lang="en-US" dirty="0">
                <a:latin typeface="Times New Roman" panose="02020603050405020304" pitchFamily="18" charset="0"/>
              </a:rPr>
              <a:t>This page provides:</a:t>
            </a:r>
          </a:p>
          <a:p>
            <a:pPr>
              <a:spcBef>
                <a:spcPts val="500"/>
              </a:spcBef>
              <a:spcAft>
                <a:spcPts val="500"/>
              </a:spcAft>
            </a:pPr>
            <a:r>
              <a:rPr lang="en-US" dirty="0">
                <a:latin typeface="Times New Roman" panose="02020603050405020304" pitchFamily="18" charset="0"/>
              </a:rPr>
              <a:t>• Skills required for recommended courses</a:t>
            </a:r>
            <a:br>
              <a:rPr lang="en-US" dirty="0">
                <a:latin typeface="Times New Roman" panose="02020603050405020304" pitchFamily="18" charset="0"/>
              </a:rPr>
            </a:br>
            <a:r>
              <a:rPr lang="en-US" dirty="0">
                <a:latin typeface="Times New Roman" panose="02020603050405020304" pitchFamily="18" charset="0"/>
              </a:rPr>
              <a:t>• Learning resources</a:t>
            </a:r>
          </a:p>
        </p:txBody>
      </p:sp>
      <p:pic>
        <p:nvPicPr>
          <p:cNvPr id="5" name="Picture 4"/>
          <p:cNvPicPr>
            <a:picLocks noChangeAspect="1"/>
          </p:cNvPicPr>
          <p:nvPr/>
        </p:nvPicPr>
        <p:blipFill>
          <a:blip r:embed="rId3"/>
          <a:stretch>
            <a:fillRect/>
          </a:stretch>
        </p:blipFill>
        <p:spPr>
          <a:xfrm>
            <a:off x="5607021" y="3149600"/>
            <a:ext cx="6039485" cy="2967990"/>
          </a:xfrm>
          <a:prstGeom prst="rect">
            <a:avLst/>
          </a:prstGeom>
        </p:spPr>
      </p:pic>
    </p:spTree>
    <p:extLst>
      <p:ext uri="{BB962C8B-B14F-4D97-AF65-F5344CB8AC3E}">
        <p14:creationId xmlns:p14="http://schemas.microsoft.com/office/powerpoint/2010/main" val="220948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5236" y="83127"/>
            <a:ext cx="10889673" cy="6668492"/>
          </a:xfrm>
          <a:prstGeom prst="rect">
            <a:avLst/>
          </a:prstGeom>
        </p:spPr>
        <p:txBody>
          <a:bodyPr wrap="square">
            <a:spAutoFit/>
          </a:bodyPr>
          <a:lstStyle/>
          <a:p>
            <a:pPr lvl="1">
              <a:spcBef>
                <a:spcPts val="395"/>
              </a:spcBef>
              <a:tabLst>
                <a:tab pos="234315" algn="l"/>
              </a:tabLst>
            </a:pPr>
            <a:r>
              <a:rPr lang="en-IN" sz="1200" b="1" dirty="0" smtClean="0">
                <a:effectLst/>
                <a:latin typeface="Times New Roman" panose="02020603050405020304" pitchFamily="18" charset="0"/>
              </a:rPr>
              <a:t>                                                                                                                SOURCE</a:t>
            </a:r>
            <a:r>
              <a:rPr lang="en-IN" sz="1200" b="1" spc="-50" dirty="0" smtClean="0">
                <a:effectLst/>
                <a:latin typeface="Times New Roman" panose="02020603050405020304" pitchFamily="18" charset="0"/>
              </a:rPr>
              <a:t> </a:t>
            </a:r>
            <a:r>
              <a:rPr lang="en-IN" sz="1200" b="1" spc="-20" dirty="0" smtClean="0">
                <a:effectLst/>
                <a:latin typeface="Times New Roman" panose="02020603050405020304" pitchFamily="18" charset="0"/>
              </a:rPr>
              <a:t>CODE</a:t>
            </a:r>
            <a:endParaRPr lang="en-IN" sz="1200" b="1" dirty="0" smtClean="0">
              <a:effectLst/>
              <a:latin typeface="Times New Roman" panose="02020603050405020304" pitchFamily="18" charset="0"/>
            </a:endParaRPr>
          </a:p>
          <a:p>
            <a:pPr>
              <a:spcBef>
                <a:spcPts val="95"/>
              </a:spcBef>
            </a:pPr>
            <a:r>
              <a:rPr lang="en-IN" sz="1200" b="1" dirty="0" smtClean="0">
                <a:effectLst/>
                <a:latin typeface="Times New Roman" panose="02020603050405020304" pitchFamily="18" charset="0"/>
              </a:rPr>
              <a:t> </a:t>
            </a:r>
            <a:endParaRPr lang="en-IN" sz="1200" dirty="0" smtClean="0">
              <a:effectLst/>
              <a:latin typeface="Times New Roman" panose="02020603050405020304" pitchFamily="18" charset="0"/>
            </a:endParaRPr>
          </a:p>
          <a:p>
            <a:pPr>
              <a:spcBef>
                <a:spcPts val="500"/>
              </a:spcBef>
              <a:spcAft>
                <a:spcPts val="500"/>
              </a:spcAft>
            </a:pPr>
            <a:r>
              <a:rPr lang="en-IN" sz="1200" dirty="0" smtClean="0">
                <a:effectLst/>
                <a:latin typeface="Times New Roman" panose="02020603050405020304" pitchFamily="18" charset="0"/>
              </a:rPr>
              <a:t>from </a:t>
            </a:r>
            <a:r>
              <a:rPr lang="en-IN" sz="1200" dirty="0" err="1" smtClean="0">
                <a:effectLst/>
                <a:latin typeface="Times New Roman" panose="02020603050405020304" pitchFamily="18" charset="0"/>
              </a:rPr>
              <a:t>flask_sqlalchemy</a:t>
            </a:r>
            <a:r>
              <a:rPr lang="en-IN" sz="1200" dirty="0" smtClean="0">
                <a:effectLst/>
                <a:latin typeface="Times New Roman" panose="02020603050405020304" pitchFamily="18" charset="0"/>
              </a:rPr>
              <a:t> import </a:t>
            </a:r>
            <a:r>
              <a:rPr lang="en-IN" sz="1200" dirty="0" err="1" smtClean="0">
                <a:effectLst/>
                <a:latin typeface="Times New Roman" panose="02020603050405020304" pitchFamily="18" charset="0"/>
              </a:rPr>
              <a:t>SQLAlchemy</a:t>
            </a:r>
            <a:endParaRPr lang="en-IN" sz="1200" dirty="0" smtClean="0">
              <a:effectLst/>
              <a:latin typeface="Times New Roman" panose="02020603050405020304" pitchFamily="18" charset="0"/>
            </a:endParaRPr>
          </a:p>
          <a:p>
            <a:pPr>
              <a:spcBef>
                <a:spcPts val="500"/>
              </a:spcBef>
              <a:spcAft>
                <a:spcPts val="500"/>
              </a:spcAft>
            </a:pPr>
            <a:r>
              <a:rPr lang="en-IN" sz="1200" dirty="0" smtClean="0">
                <a:effectLst/>
                <a:latin typeface="Times New Roman" panose="02020603050405020304" pitchFamily="18" charset="0"/>
              </a:rPr>
              <a:t>from </a:t>
            </a:r>
            <a:r>
              <a:rPr lang="en-IN" sz="1200" dirty="0" err="1" smtClean="0">
                <a:effectLst/>
                <a:latin typeface="Times New Roman" panose="02020603050405020304" pitchFamily="18" charset="0"/>
              </a:rPr>
              <a:t>flask_login</a:t>
            </a:r>
            <a:r>
              <a:rPr lang="en-IN" sz="1200" dirty="0" smtClean="0">
                <a:effectLst/>
                <a:latin typeface="Times New Roman" panose="02020603050405020304" pitchFamily="18" charset="0"/>
              </a:rPr>
              <a:t> import </a:t>
            </a:r>
            <a:r>
              <a:rPr lang="en-IN" sz="1200" dirty="0" err="1" smtClean="0">
                <a:effectLst/>
                <a:latin typeface="Times New Roman" panose="02020603050405020304" pitchFamily="18" charset="0"/>
              </a:rPr>
              <a:t>UserMixin</a:t>
            </a:r>
            <a:endParaRPr lang="en-IN" sz="1200" dirty="0" smtClean="0">
              <a:effectLst/>
              <a:latin typeface="Times New Roman" panose="02020603050405020304" pitchFamily="18" charset="0"/>
            </a:endParaRPr>
          </a:p>
          <a:p>
            <a:pPr>
              <a:spcBef>
                <a:spcPts val="500"/>
              </a:spcBef>
              <a:spcAft>
                <a:spcPts val="500"/>
              </a:spcAft>
            </a:pPr>
            <a:r>
              <a:rPr lang="en-IN" sz="1200" dirty="0" smtClean="0">
                <a:effectLst/>
                <a:latin typeface="Times New Roman" panose="02020603050405020304" pitchFamily="18" charset="0"/>
              </a:rPr>
              <a:t>from </a:t>
            </a:r>
            <a:r>
              <a:rPr lang="en-IN" sz="1200" dirty="0" err="1" smtClean="0">
                <a:effectLst/>
                <a:latin typeface="Times New Roman" panose="02020603050405020304" pitchFamily="18" charset="0"/>
              </a:rPr>
              <a:t>werkzeug.security</a:t>
            </a:r>
            <a:r>
              <a:rPr lang="en-IN" sz="1200" dirty="0" smtClean="0">
                <a:effectLst/>
                <a:latin typeface="Times New Roman" panose="02020603050405020304" pitchFamily="18" charset="0"/>
              </a:rPr>
              <a:t> import </a:t>
            </a:r>
            <a:r>
              <a:rPr lang="en-IN" sz="1200" dirty="0" err="1" smtClean="0">
                <a:effectLst/>
                <a:latin typeface="Times New Roman" panose="02020603050405020304" pitchFamily="18" charset="0"/>
              </a:rPr>
              <a:t>generate_password_hash</a:t>
            </a:r>
            <a:r>
              <a:rPr lang="en-IN" sz="1200" dirty="0" smtClean="0">
                <a:effectLst/>
                <a:latin typeface="Times New Roman" panose="02020603050405020304" pitchFamily="18" charset="0"/>
              </a:rPr>
              <a:t>, </a:t>
            </a:r>
            <a:r>
              <a:rPr lang="en-IN" sz="1200" dirty="0" err="1" smtClean="0">
                <a:effectLst/>
                <a:latin typeface="Times New Roman" panose="02020603050405020304" pitchFamily="18" charset="0"/>
              </a:rPr>
              <a:t>check_password_hash</a:t>
            </a:r>
            <a:endParaRPr lang="en-IN" sz="1200" dirty="0" smtClean="0">
              <a:effectLst/>
              <a:latin typeface="Times New Roman" panose="02020603050405020304" pitchFamily="18" charset="0"/>
            </a:endParaRPr>
          </a:p>
          <a:p>
            <a:pPr>
              <a:spcBef>
                <a:spcPts val="500"/>
              </a:spcBef>
              <a:spcAft>
                <a:spcPts val="500"/>
              </a:spcAft>
            </a:pPr>
            <a:r>
              <a:rPr lang="en-IN" sz="1200" dirty="0" smtClean="0">
                <a:effectLst/>
                <a:latin typeface="Times New Roman" panose="02020603050405020304" pitchFamily="18" charset="0"/>
              </a:rPr>
              <a:t>from </a:t>
            </a:r>
            <a:r>
              <a:rPr lang="en-IN" sz="1200" dirty="0" err="1" smtClean="0">
                <a:effectLst/>
                <a:latin typeface="Times New Roman" panose="02020603050405020304" pitchFamily="18" charset="0"/>
              </a:rPr>
              <a:t>sklearn.neighbors</a:t>
            </a:r>
            <a:r>
              <a:rPr lang="en-IN" sz="1200" dirty="0" smtClean="0">
                <a:effectLst/>
                <a:latin typeface="Times New Roman" panose="02020603050405020304" pitchFamily="18" charset="0"/>
              </a:rPr>
              <a:t> import </a:t>
            </a:r>
            <a:r>
              <a:rPr lang="en-IN" sz="1200" dirty="0" err="1" smtClean="0">
                <a:effectLst/>
                <a:latin typeface="Times New Roman" panose="02020603050405020304" pitchFamily="18" charset="0"/>
              </a:rPr>
              <a:t>KNeighborsClassifier</a:t>
            </a:r>
            <a:endParaRPr lang="en-IN" sz="1200" dirty="0" smtClean="0">
              <a:effectLst/>
              <a:latin typeface="Times New Roman" panose="02020603050405020304" pitchFamily="18" charset="0"/>
            </a:endParaRPr>
          </a:p>
          <a:p>
            <a:pPr>
              <a:spcBef>
                <a:spcPts val="500"/>
              </a:spcBef>
              <a:spcAft>
                <a:spcPts val="500"/>
              </a:spcAft>
            </a:pPr>
            <a:r>
              <a:rPr lang="en-IN" sz="1200" dirty="0" smtClean="0">
                <a:effectLst/>
                <a:latin typeface="Times New Roman" panose="02020603050405020304" pitchFamily="18" charset="0"/>
              </a:rPr>
              <a:t>import </a:t>
            </a:r>
            <a:r>
              <a:rPr lang="en-IN" sz="1200" dirty="0" err="1" smtClean="0">
                <a:effectLst/>
                <a:latin typeface="Times New Roman" panose="02020603050405020304" pitchFamily="18" charset="0"/>
              </a:rPr>
              <a:t>numpy</a:t>
            </a:r>
            <a:r>
              <a:rPr lang="en-IN" sz="1200" dirty="0" smtClean="0">
                <a:effectLst/>
                <a:latin typeface="Times New Roman" panose="02020603050405020304" pitchFamily="18" charset="0"/>
              </a:rPr>
              <a:t> as np</a:t>
            </a:r>
          </a:p>
          <a:p>
            <a:pPr>
              <a:spcBef>
                <a:spcPts val="500"/>
              </a:spcBef>
              <a:spcAft>
                <a:spcPts val="500"/>
              </a:spcAft>
            </a:pPr>
            <a:r>
              <a:rPr lang="en-IN" sz="1200" dirty="0" err="1" smtClean="0">
                <a:effectLst/>
                <a:latin typeface="Times New Roman" panose="02020603050405020304" pitchFamily="18" charset="0"/>
              </a:rPr>
              <a:t>db</a:t>
            </a:r>
            <a:r>
              <a:rPr lang="en-IN" sz="1200" dirty="0" smtClean="0">
                <a:effectLst/>
                <a:latin typeface="Times New Roman" panose="02020603050405020304" pitchFamily="18" charset="0"/>
              </a:rPr>
              <a:t> = </a:t>
            </a:r>
            <a:r>
              <a:rPr lang="en-IN" sz="1200" dirty="0" err="1" smtClean="0">
                <a:effectLst/>
                <a:latin typeface="Times New Roman" panose="02020603050405020304" pitchFamily="18" charset="0"/>
              </a:rPr>
              <a:t>SQLAlchemy</a:t>
            </a:r>
            <a:r>
              <a:rPr lang="en-IN" sz="1200" dirty="0" smtClean="0">
                <a:effectLst/>
                <a:latin typeface="Times New Roman" panose="02020603050405020304" pitchFamily="18" charset="0"/>
              </a:rPr>
              <a:t>()</a:t>
            </a:r>
          </a:p>
          <a:p>
            <a:pPr>
              <a:spcBef>
                <a:spcPts val="500"/>
              </a:spcBef>
              <a:spcAft>
                <a:spcPts val="500"/>
              </a:spcAft>
            </a:pPr>
            <a:r>
              <a:rPr lang="en-IN" sz="1200" dirty="0" smtClean="0">
                <a:effectLst/>
                <a:latin typeface="Times New Roman" panose="02020603050405020304" pitchFamily="18" charset="0"/>
              </a:rPr>
              <a:t> </a:t>
            </a:r>
          </a:p>
          <a:p>
            <a:pPr>
              <a:spcBef>
                <a:spcPts val="500"/>
              </a:spcBef>
              <a:spcAft>
                <a:spcPts val="500"/>
              </a:spcAft>
            </a:pPr>
            <a:r>
              <a:rPr lang="en-IN" sz="1200" dirty="0" smtClean="0">
                <a:effectLst/>
                <a:latin typeface="Times New Roman" panose="02020603050405020304" pitchFamily="18" charset="0"/>
              </a:rPr>
              <a:t># ---------------------- USER MODEL ----------------------</a:t>
            </a:r>
          </a:p>
          <a:p>
            <a:pPr>
              <a:spcBef>
                <a:spcPts val="500"/>
              </a:spcBef>
              <a:spcAft>
                <a:spcPts val="500"/>
              </a:spcAft>
            </a:pPr>
            <a:r>
              <a:rPr lang="en-IN" sz="1200" dirty="0" smtClean="0">
                <a:effectLst/>
                <a:latin typeface="Times New Roman" panose="02020603050405020304" pitchFamily="18" charset="0"/>
              </a:rPr>
              <a:t>class User(</a:t>
            </a:r>
            <a:r>
              <a:rPr lang="en-IN" sz="1200" dirty="0" err="1" smtClean="0">
                <a:effectLst/>
                <a:latin typeface="Times New Roman" panose="02020603050405020304" pitchFamily="18" charset="0"/>
              </a:rPr>
              <a:t>UserMixin</a:t>
            </a:r>
            <a:r>
              <a:rPr lang="en-IN" sz="1200" dirty="0" smtClean="0">
                <a:effectLst/>
                <a:latin typeface="Times New Roman" panose="02020603050405020304" pitchFamily="18" charset="0"/>
              </a:rPr>
              <a:t>, </a:t>
            </a:r>
            <a:r>
              <a:rPr lang="en-IN" sz="1200" dirty="0" err="1" smtClean="0">
                <a:effectLst/>
                <a:latin typeface="Times New Roman" panose="02020603050405020304" pitchFamily="18" charset="0"/>
              </a:rPr>
              <a:t>db.Model</a:t>
            </a:r>
            <a:r>
              <a:rPr lang="en-IN" sz="1200" dirty="0" smtClean="0">
                <a:effectLst/>
                <a:latin typeface="Times New Roman" panose="02020603050405020304" pitchFamily="18" charset="0"/>
              </a:rPr>
              <a:t>):</a:t>
            </a:r>
          </a:p>
          <a:p>
            <a:pPr>
              <a:spcBef>
                <a:spcPts val="500"/>
              </a:spcBef>
              <a:spcAft>
                <a:spcPts val="500"/>
              </a:spcAft>
            </a:pPr>
            <a:r>
              <a:rPr lang="en-IN" sz="1200" dirty="0" smtClean="0">
                <a:effectLst/>
                <a:latin typeface="Times New Roman" panose="02020603050405020304" pitchFamily="18" charset="0"/>
              </a:rPr>
              <a:t>    id = </a:t>
            </a:r>
            <a:r>
              <a:rPr lang="en-IN" sz="1200" dirty="0" err="1" smtClean="0">
                <a:effectLst/>
                <a:latin typeface="Times New Roman" panose="02020603050405020304" pitchFamily="18" charset="0"/>
              </a:rPr>
              <a:t>db.Column</a:t>
            </a:r>
            <a:r>
              <a:rPr lang="en-IN" sz="1200" dirty="0" smtClean="0">
                <a:effectLst/>
                <a:latin typeface="Times New Roman" panose="02020603050405020304" pitchFamily="18" charset="0"/>
              </a:rPr>
              <a:t>(</a:t>
            </a:r>
            <a:r>
              <a:rPr lang="en-IN" sz="1200" dirty="0" err="1" smtClean="0">
                <a:effectLst/>
                <a:latin typeface="Times New Roman" panose="02020603050405020304" pitchFamily="18" charset="0"/>
              </a:rPr>
              <a:t>db.Integer</a:t>
            </a:r>
            <a:r>
              <a:rPr lang="en-IN" sz="1200" dirty="0" smtClean="0">
                <a:effectLst/>
                <a:latin typeface="Times New Roman" panose="02020603050405020304" pitchFamily="18" charset="0"/>
              </a:rPr>
              <a:t>, </a:t>
            </a:r>
            <a:r>
              <a:rPr lang="en-IN" sz="1200" dirty="0" err="1" smtClean="0">
                <a:effectLst/>
                <a:latin typeface="Times New Roman" panose="02020603050405020304" pitchFamily="18" charset="0"/>
              </a:rPr>
              <a:t>primary_key</a:t>
            </a:r>
            <a:r>
              <a:rPr lang="en-IN" sz="1200" dirty="0" smtClean="0">
                <a:effectLst/>
                <a:latin typeface="Times New Roman" panose="02020603050405020304" pitchFamily="18" charset="0"/>
              </a:rPr>
              <a:t>=True)</a:t>
            </a:r>
          </a:p>
          <a:p>
            <a:pPr>
              <a:spcBef>
                <a:spcPts val="500"/>
              </a:spcBef>
              <a:spcAft>
                <a:spcPts val="500"/>
              </a:spcAft>
            </a:pPr>
            <a:r>
              <a:rPr lang="en-IN" sz="1200" dirty="0" smtClean="0">
                <a:effectLst/>
                <a:latin typeface="Times New Roman" panose="02020603050405020304" pitchFamily="18" charset="0"/>
              </a:rPr>
              <a:t>    name = </a:t>
            </a:r>
            <a:r>
              <a:rPr lang="en-IN" sz="1200" dirty="0" err="1" smtClean="0">
                <a:effectLst/>
                <a:latin typeface="Times New Roman" panose="02020603050405020304" pitchFamily="18" charset="0"/>
              </a:rPr>
              <a:t>db.Column</a:t>
            </a:r>
            <a:r>
              <a:rPr lang="en-IN" sz="1200" dirty="0" smtClean="0">
                <a:effectLst/>
                <a:latin typeface="Times New Roman" panose="02020603050405020304" pitchFamily="18" charset="0"/>
              </a:rPr>
              <a:t>(</a:t>
            </a:r>
            <a:r>
              <a:rPr lang="en-IN" sz="1200" dirty="0" err="1" smtClean="0">
                <a:effectLst/>
                <a:latin typeface="Times New Roman" panose="02020603050405020304" pitchFamily="18" charset="0"/>
              </a:rPr>
              <a:t>db.String</a:t>
            </a:r>
            <a:r>
              <a:rPr lang="en-IN" sz="1200" dirty="0" smtClean="0">
                <a:effectLst/>
                <a:latin typeface="Times New Roman" panose="02020603050405020304" pitchFamily="18" charset="0"/>
              </a:rPr>
              <a:t>(100), </a:t>
            </a:r>
            <a:r>
              <a:rPr lang="en-IN" sz="1200" dirty="0" err="1" smtClean="0">
                <a:effectLst/>
                <a:latin typeface="Times New Roman" panose="02020603050405020304" pitchFamily="18" charset="0"/>
              </a:rPr>
              <a:t>nullable</a:t>
            </a:r>
            <a:r>
              <a:rPr lang="en-IN" sz="1200" dirty="0" smtClean="0">
                <a:effectLst/>
                <a:latin typeface="Times New Roman" panose="02020603050405020304" pitchFamily="18" charset="0"/>
              </a:rPr>
              <a:t>=False)</a:t>
            </a:r>
          </a:p>
          <a:p>
            <a:pPr>
              <a:spcBef>
                <a:spcPts val="500"/>
              </a:spcBef>
              <a:spcAft>
                <a:spcPts val="500"/>
              </a:spcAft>
            </a:pPr>
            <a:r>
              <a:rPr lang="en-IN" sz="1200" dirty="0" smtClean="0">
                <a:effectLst/>
                <a:latin typeface="Times New Roman" panose="02020603050405020304" pitchFamily="18" charset="0"/>
              </a:rPr>
              <a:t>    email = </a:t>
            </a:r>
            <a:r>
              <a:rPr lang="en-IN" sz="1200" dirty="0" err="1" smtClean="0">
                <a:effectLst/>
                <a:latin typeface="Times New Roman" panose="02020603050405020304" pitchFamily="18" charset="0"/>
              </a:rPr>
              <a:t>db.Column</a:t>
            </a:r>
            <a:r>
              <a:rPr lang="en-IN" sz="1200" dirty="0" smtClean="0">
                <a:effectLst/>
                <a:latin typeface="Times New Roman" panose="02020603050405020304" pitchFamily="18" charset="0"/>
              </a:rPr>
              <a:t>(</a:t>
            </a:r>
            <a:r>
              <a:rPr lang="en-IN" sz="1200" dirty="0" err="1" smtClean="0">
                <a:effectLst/>
                <a:latin typeface="Times New Roman" panose="02020603050405020304" pitchFamily="18" charset="0"/>
              </a:rPr>
              <a:t>db.String</a:t>
            </a:r>
            <a:r>
              <a:rPr lang="en-IN" sz="1200" dirty="0" smtClean="0">
                <a:effectLst/>
                <a:latin typeface="Times New Roman" panose="02020603050405020304" pitchFamily="18" charset="0"/>
              </a:rPr>
              <a:t>(120), unique=True, </a:t>
            </a:r>
            <a:r>
              <a:rPr lang="en-IN" sz="1200" dirty="0" err="1" smtClean="0">
                <a:effectLst/>
                <a:latin typeface="Times New Roman" panose="02020603050405020304" pitchFamily="18" charset="0"/>
              </a:rPr>
              <a:t>nullable</a:t>
            </a:r>
            <a:r>
              <a:rPr lang="en-IN" sz="1200" dirty="0" smtClean="0">
                <a:effectLst/>
                <a:latin typeface="Times New Roman" panose="02020603050405020304" pitchFamily="18" charset="0"/>
              </a:rPr>
              <a:t>=False)</a:t>
            </a:r>
          </a:p>
          <a:p>
            <a:pPr>
              <a:spcBef>
                <a:spcPts val="500"/>
              </a:spcBef>
              <a:spcAft>
                <a:spcPts val="500"/>
              </a:spcAft>
            </a:pPr>
            <a:r>
              <a:rPr lang="en-IN" sz="1200" dirty="0" smtClean="0">
                <a:effectLst/>
                <a:latin typeface="Times New Roman" panose="02020603050405020304" pitchFamily="18" charset="0"/>
              </a:rPr>
              <a:t>    </a:t>
            </a:r>
            <a:r>
              <a:rPr lang="en-IN" sz="1200" dirty="0" err="1" smtClean="0">
                <a:effectLst/>
                <a:latin typeface="Times New Roman" panose="02020603050405020304" pitchFamily="18" charset="0"/>
              </a:rPr>
              <a:t>password_hash</a:t>
            </a:r>
            <a:r>
              <a:rPr lang="en-IN" sz="1200" dirty="0" smtClean="0">
                <a:effectLst/>
                <a:latin typeface="Times New Roman" panose="02020603050405020304" pitchFamily="18" charset="0"/>
              </a:rPr>
              <a:t> = </a:t>
            </a:r>
            <a:r>
              <a:rPr lang="en-IN" sz="1200" dirty="0" err="1" smtClean="0">
                <a:effectLst/>
                <a:latin typeface="Times New Roman" panose="02020603050405020304" pitchFamily="18" charset="0"/>
              </a:rPr>
              <a:t>db.Column</a:t>
            </a:r>
            <a:r>
              <a:rPr lang="en-IN" sz="1200" dirty="0" smtClean="0">
                <a:effectLst/>
                <a:latin typeface="Times New Roman" panose="02020603050405020304" pitchFamily="18" charset="0"/>
              </a:rPr>
              <a:t>(</a:t>
            </a:r>
            <a:r>
              <a:rPr lang="en-IN" sz="1200" dirty="0" err="1" smtClean="0">
                <a:effectLst/>
                <a:latin typeface="Times New Roman" panose="02020603050405020304" pitchFamily="18" charset="0"/>
              </a:rPr>
              <a:t>db.String</a:t>
            </a:r>
            <a:r>
              <a:rPr lang="en-IN" sz="1200" dirty="0" smtClean="0">
                <a:effectLst/>
                <a:latin typeface="Times New Roman" panose="02020603050405020304" pitchFamily="18" charset="0"/>
              </a:rPr>
              <a:t>(200), </a:t>
            </a:r>
            <a:r>
              <a:rPr lang="en-IN" sz="1200" dirty="0" err="1" smtClean="0">
                <a:effectLst/>
                <a:latin typeface="Times New Roman" panose="02020603050405020304" pitchFamily="18" charset="0"/>
              </a:rPr>
              <a:t>nullable</a:t>
            </a:r>
            <a:r>
              <a:rPr lang="en-IN" sz="1200" dirty="0" smtClean="0">
                <a:effectLst/>
                <a:latin typeface="Times New Roman" panose="02020603050405020304" pitchFamily="18" charset="0"/>
              </a:rPr>
              <a:t>=False)</a:t>
            </a:r>
          </a:p>
          <a:p>
            <a:pPr>
              <a:spcBef>
                <a:spcPts val="500"/>
              </a:spcBef>
              <a:spcAft>
                <a:spcPts val="500"/>
              </a:spcAft>
            </a:pPr>
            <a:r>
              <a:rPr lang="en-IN" sz="1200" dirty="0" smtClean="0">
                <a:effectLst/>
                <a:latin typeface="Times New Roman" panose="02020603050405020304" pitchFamily="18" charset="0"/>
              </a:rPr>
              <a:t>    </a:t>
            </a:r>
            <a:r>
              <a:rPr lang="en-IN" sz="1200" dirty="0" err="1" smtClean="0">
                <a:effectLst/>
                <a:latin typeface="Times New Roman" panose="02020603050405020304" pitchFamily="18" charset="0"/>
              </a:rPr>
              <a:t>def</a:t>
            </a:r>
            <a:r>
              <a:rPr lang="en-IN" sz="1200" dirty="0" smtClean="0">
                <a:effectLst/>
                <a:latin typeface="Times New Roman" panose="02020603050405020304" pitchFamily="18" charset="0"/>
              </a:rPr>
              <a:t> </a:t>
            </a:r>
            <a:r>
              <a:rPr lang="en-IN" sz="1200" dirty="0" err="1" smtClean="0">
                <a:effectLst/>
                <a:latin typeface="Times New Roman" panose="02020603050405020304" pitchFamily="18" charset="0"/>
              </a:rPr>
              <a:t>set_password</a:t>
            </a:r>
            <a:r>
              <a:rPr lang="en-IN" sz="1200" dirty="0" smtClean="0">
                <a:effectLst/>
                <a:latin typeface="Times New Roman" panose="02020603050405020304" pitchFamily="18" charset="0"/>
              </a:rPr>
              <a:t>(self, password):</a:t>
            </a:r>
          </a:p>
          <a:p>
            <a:pPr>
              <a:spcBef>
                <a:spcPts val="500"/>
              </a:spcBef>
              <a:spcAft>
                <a:spcPts val="500"/>
              </a:spcAft>
            </a:pPr>
            <a:r>
              <a:rPr lang="en-IN" sz="1200" dirty="0" smtClean="0">
                <a:effectLst/>
                <a:latin typeface="Times New Roman" panose="02020603050405020304" pitchFamily="18" charset="0"/>
              </a:rPr>
              <a:t>        </a:t>
            </a:r>
            <a:r>
              <a:rPr lang="en-IN" sz="1200" dirty="0" err="1" smtClean="0">
                <a:effectLst/>
                <a:latin typeface="Times New Roman" panose="02020603050405020304" pitchFamily="18" charset="0"/>
              </a:rPr>
              <a:t>self.password_hash</a:t>
            </a:r>
            <a:r>
              <a:rPr lang="en-IN" sz="1200" dirty="0" smtClean="0">
                <a:effectLst/>
                <a:latin typeface="Times New Roman" panose="02020603050405020304" pitchFamily="18" charset="0"/>
              </a:rPr>
              <a:t> = </a:t>
            </a:r>
            <a:r>
              <a:rPr lang="en-IN" sz="1200" dirty="0" err="1" smtClean="0">
                <a:effectLst/>
                <a:latin typeface="Times New Roman" panose="02020603050405020304" pitchFamily="18" charset="0"/>
              </a:rPr>
              <a:t>generate_password_hash</a:t>
            </a:r>
            <a:r>
              <a:rPr lang="en-IN" sz="1200" dirty="0" smtClean="0">
                <a:effectLst/>
                <a:latin typeface="Times New Roman" panose="02020603050405020304" pitchFamily="18" charset="0"/>
              </a:rPr>
              <a:t>(password)</a:t>
            </a:r>
          </a:p>
          <a:p>
            <a:pPr>
              <a:spcBef>
                <a:spcPts val="500"/>
              </a:spcBef>
              <a:spcAft>
                <a:spcPts val="500"/>
              </a:spcAft>
            </a:pPr>
            <a:r>
              <a:rPr lang="en-IN" sz="1200" dirty="0" smtClean="0">
                <a:effectLst/>
                <a:latin typeface="Times New Roman" panose="02020603050405020304" pitchFamily="18" charset="0"/>
              </a:rPr>
              <a:t> </a:t>
            </a:r>
            <a:r>
              <a:rPr lang="en-IN" sz="1200" dirty="0" err="1" smtClean="0">
                <a:effectLst/>
                <a:latin typeface="Times New Roman" panose="02020603050405020304" pitchFamily="18" charset="0"/>
              </a:rPr>
              <a:t>def</a:t>
            </a:r>
            <a:r>
              <a:rPr lang="en-IN" sz="1200" dirty="0" smtClean="0">
                <a:effectLst/>
                <a:latin typeface="Times New Roman" panose="02020603050405020304" pitchFamily="18" charset="0"/>
              </a:rPr>
              <a:t> </a:t>
            </a:r>
            <a:r>
              <a:rPr lang="en-IN" sz="1200" dirty="0" err="1" smtClean="0">
                <a:effectLst/>
                <a:latin typeface="Times New Roman" panose="02020603050405020304" pitchFamily="18" charset="0"/>
              </a:rPr>
              <a:t>check_password</a:t>
            </a:r>
            <a:r>
              <a:rPr lang="en-IN" sz="1200" dirty="0" smtClean="0">
                <a:effectLst/>
                <a:latin typeface="Times New Roman" panose="02020603050405020304" pitchFamily="18" charset="0"/>
              </a:rPr>
              <a:t>(self, password):</a:t>
            </a:r>
          </a:p>
          <a:p>
            <a:pPr>
              <a:spcBef>
                <a:spcPts val="500"/>
              </a:spcBef>
              <a:spcAft>
                <a:spcPts val="500"/>
              </a:spcAft>
            </a:pPr>
            <a:r>
              <a:rPr lang="en-IN" sz="1200" dirty="0" smtClean="0">
                <a:effectLst/>
                <a:latin typeface="Times New Roman" panose="02020603050405020304" pitchFamily="18" charset="0"/>
              </a:rPr>
              <a:t>        return </a:t>
            </a:r>
            <a:r>
              <a:rPr lang="en-IN" sz="1200" dirty="0" err="1" smtClean="0">
                <a:effectLst/>
                <a:latin typeface="Times New Roman" panose="02020603050405020304" pitchFamily="18" charset="0"/>
              </a:rPr>
              <a:t>check_password_hash</a:t>
            </a:r>
            <a:r>
              <a:rPr lang="en-IN" sz="1200" dirty="0" smtClean="0">
                <a:effectLst/>
                <a:latin typeface="Times New Roman" panose="02020603050405020304" pitchFamily="18" charset="0"/>
              </a:rPr>
              <a:t>(</a:t>
            </a:r>
            <a:r>
              <a:rPr lang="en-IN" sz="1200" dirty="0" err="1" smtClean="0">
                <a:effectLst/>
                <a:latin typeface="Times New Roman" panose="02020603050405020304" pitchFamily="18" charset="0"/>
              </a:rPr>
              <a:t>self.password_hash</a:t>
            </a:r>
            <a:r>
              <a:rPr lang="en-IN" sz="1200" dirty="0" smtClean="0">
                <a:effectLst/>
                <a:latin typeface="Times New Roman" panose="02020603050405020304" pitchFamily="18" charset="0"/>
              </a:rPr>
              <a:t>, password)</a:t>
            </a:r>
          </a:p>
          <a:p>
            <a:pPr>
              <a:spcBef>
                <a:spcPts val="500"/>
              </a:spcBef>
              <a:spcAft>
                <a:spcPts val="500"/>
              </a:spcAft>
            </a:pPr>
            <a:r>
              <a:rPr lang="en-IN" sz="1200" dirty="0" smtClean="0">
                <a:effectLst/>
                <a:latin typeface="Times New Roman" panose="02020603050405020304" pitchFamily="18" charset="0"/>
              </a:rPr>
              <a:t> </a:t>
            </a:r>
          </a:p>
          <a:p>
            <a:pPr>
              <a:spcBef>
                <a:spcPts val="500"/>
              </a:spcBef>
              <a:spcAft>
                <a:spcPts val="500"/>
              </a:spcAft>
            </a:pPr>
            <a:r>
              <a:rPr lang="en-IN" sz="1200" dirty="0" smtClean="0">
                <a:effectLst/>
                <a:latin typeface="Times New Roman" panose="02020603050405020304" pitchFamily="18" charset="0"/>
              </a:rPr>
              <a:t> </a:t>
            </a:r>
          </a:p>
          <a:p>
            <a:pPr>
              <a:spcBef>
                <a:spcPts val="500"/>
              </a:spcBef>
              <a:spcAft>
                <a:spcPts val="500"/>
              </a:spcAft>
            </a:pPr>
            <a:r>
              <a:rPr lang="en-IN" sz="1200" dirty="0" smtClean="0">
                <a:effectLst/>
                <a:latin typeface="Times New Roman" panose="02020603050405020304" pitchFamily="18" charset="0"/>
              </a:rPr>
              <a:t> </a:t>
            </a:r>
          </a:p>
        </p:txBody>
      </p:sp>
    </p:spTree>
    <p:extLst>
      <p:ext uri="{BB962C8B-B14F-4D97-AF65-F5344CB8AC3E}">
        <p14:creationId xmlns:p14="http://schemas.microsoft.com/office/powerpoint/2010/main" val="2868671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5235" y="68863"/>
            <a:ext cx="10594109" cy="6848029"/>
          </a:xfrm>
          <a:prstGeom prst="rect">
            <a:avLst/>
          </a:prstGeom>
        </p:spPr>
        <p:txBody>
          <a:bodyPr wrap="square">
            <a:spAutoFit/>
          </a:bodyPr>
          <a:lstStyle/>
          <a:p>
            <a:pPr>
              <a:spcBef>
                <a:spcPts val="500"/>
              </a:spcBef>
              <a:spcAft>
                <a:spcPts val="500"/>
              </a:spcAft>
            </a:pPr>
            <a:r>
              <a:rPr lang="en-IN" sz="1200" dirty="0">
                <a:latin typeface="Times New Roman" panose="02020603050405020304" pitchFamily="18" charset="0"/>
              </a:rPr>
              <a:t># ---------------------- COURSE MODEL ----------------------</a:t>
            </a:r>
          </a:p>
          <a:p>
            <a:pPr>
              <a:spcBef>
                <a:spcPts val="500"/>
              </a:spcBef>
              <a:spcAft>
                <a:spcPts val="500"/>
              </a:spcAft>
            </a:pPr>
            <a:r>
              <a:rPr lang="en-IN" sz="1200" dirty="0">
                <a:latin typeface="Times New Roman" panose="02020603050405020304" pitchFamily="18" charset="0"/>
              </a:rPr>
              <a:t>class Course(</a:t>
            </a:r>
            <a:r>
              <a:rPr lang="en-IN" sz="1200" dirty="0" err="1">
                <a:latin typeface="Times New Roman" panose="02020603050405020304" pitchFamily="18" charset="0"/>
              </a:rPr>
              <a:t>db.Model</a:t>
            </a:r>
            <a:r>
              <a:rPr lang="en-IN" sz="1200" dirty="0">
                <a:latin typeface="Times New Roman" panose="02020603050405020304" pitchFamily="18" charset="0"/>
              </a:rPr>
              <a:t>):</a:t>
            </a:r>
          </a:p>
          <a:p>
            <a:pPr>
              <a:spcBef>
                <a:spcPts val="500"/>
              </a:spcBef>
              <a:spcAft>
                <a:spcPts val="500"/>
              </a:spcAft>
            </a:pPr>
            <a:r>
              <a:rPr lang="en-IN" sz="1200" dirty="0">
                <a:latin typeface="Times New Roman" panose="02020603050405020304" pitchFamily="18" charset="0"/>
              </a:rPr>
              <a:t>    id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db.Integer</a:t>
            </a:r>
            <a:r>
              <a:rPr lang="en-IN" sz="1200" dirty="0">
                <a:latin typeface="Times New Roman" panose="02020603050405020304" pitchFamily="18" charset="0"/>
              </a:rPr>
              <a:t>, </a:t>
            </a:r>
            <a:r>
              <a:rPr lang="en-IN" sz="1200" dirty="0" err="1">
                <a:latin typeface="Times New Roman" panose="02020603050405020304" pitchFamily="18" charset="0"/>
              </a:rPr>
              <a:t>primary_key</a:t>
            </a:r>
            <a:r>
              <a:rPr lang="en-IN" sz="1200" dirty="0">
                <a:latin typeface="Times New Roman" panose="02020603050405020304" pitchFamily="18" charset="0"/>
              </a:rPr>
              <a:t>=True)</a:t>
            </a:r>
          </a:p>
          <a:p>
            <a:pPr>
              <a:spcBef>
                <a:spcPts val="500"/>
              </a:spcBef>
              <a:spcAft>
                <a:spcPts val="500"/>
              </a:spcAft>
            </a:pPr>
            <a:r>
              <a:rPr lang="en-IN" sz="1200" dirty="0">
                <a:latin typeface="Times New Roman" panose="02020603050405020304" pitchFamily="18" charset="0"/>
              </a:rPr>
              <a:t>    </a:t>
            </a:r>
            <a:r>
              <a:rPr lang="en-IN" sz="1200" dirty="0" err="1">
                <a:latin typeface="Times New Roman" panose="02020603050405020304" pitchFamily="18" charset="0"/>
              </a:rPr>
              <a:t>course_name</a:t>
            </a:r>
            <a:r>
              <a:rPr lang="en-IN" sz="1200" dirty="0">
                <a:latin typeface="Times New Roman" panose="02020603050405020304" pitchFamily="18" charset="0"/>
              </a:rPr>
              <a:t>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db.String</a:t>
            </a:r>
            <a:r>
              <a:rPr lang="en-IN" sz="1200" dirty="0">
                <a:latin typeface="Times New Roman" panose="02020603050405020304" pitchFamily="18" charset="0"/>
              </a:rPr>
              <a:t>(150), </a:t>
            </a:r>
            <a:r>
              <a:rPr lang="en-IN" sz="1200" dirty="0" err="1">
                <a:latin typeface="Times New Roman" panose="02020603050405020304" pitchFamily="18" charset="0"/>
              </a:rPr>
              <a:t>nullable</a:t>
            </a:r>
            <a:r>
              <a:rPr lang="en-IN" sz="1200" dirty="0">
                <a:latin typeface="Times New Roman" panose="02020603050405020304" pitchFamily="18" charset="0"/>
              </a:rPr>
              <a:t>=False)</a:t>
            </a:r>
          </a:p>
          <a:p>
            <a:pPr>
              <a:spcBef>
                <a:spcPts val="500"/>
              </a:spcBef>
              <a:spcAft>
                <a:spcPts val="500"/>
              </a:spcAft>
            </a:pPr>
            <a:r>
              <a:rPr lang="en-IN" sz="1200" dirty="0">
                <a:latin typeface="Times New Roman" panose="02020603050405020304" pitchFamily="18" charset="0"/>
              </a:rPr>
              <a:t>    duration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db.String</a:t>
            </a:r>
            <a:r>
              <a:rPr lang="en-IN" sz="1200" dirty="0">
                <a:latin typeface="Times New Roman" panose="02020603050405020304" pitchFamily="18" charset="0"/>
              </a:rPr>
              <a:t>(50))</a:t>
            </a:r>
          </a:p>
          <a:p>
            <a:pPr>
              <a:spcBef>
                <a:spcPts val="500"/>
              </a:spcBef>
              <a:spcAft>
                <a:spcPts val="500"/>
              </a:spcAft>
            </a:pPr>
            <a:r>
              <a:rPr lang="en-IN" sz="1200" dirty="0">
                <a:latin typeface="Times New Roman" panose="02020603050405020304" pitchFamily="18" charset="0"/>
              </a:rPr>
              <a:t>    eligibility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db.String</a:t>
            </a:r>
            <a:r>
              <a:rPr lang="en-IN" sz="1200" dirty="0">
                <a:latin typeface="Times New Roman" panose="02020603050405020304" pitchFamily="18" charset="0"/>
              </a:rPr>
              <a:t>(100))</a:t>
            </a:r>
          </a:p>
          <a:p>
            <a:pPr>
              <a:spcBef>
                <a:spcPts val="500"/>
              </a:spcBef>
              <a:spcAft>
                <a:spcPts val="500"/>
              </a:spcAft>
            </a:pPr>
            <a:r>
              <a:rPr lang="en-IN" sz="1200" dirty="0">
                <a:latin typeface="Times New Roman" panose="02020603050405020304" pitchFamily="18" charset="0"/>
              </a:rPr>
              <a:t>stream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db.String</a:t>
            </a:r>
            <a:r>
              <a:rPr lang="en-IN" sz="1200" dirty="0">
                <a:latin typeface="Times New Roman" panose="02020603050405020304" pitchFamily="18" charset="0"/>
              </a:rPr>
              <a:t>(50))</a:t>
            </a:r>
          </a:p>
          <a:p>
            <a:pPr>
              <a:spcBef>
                <a:spcPts val="500"/>
              </a:spcBef>
              <a:spcAft>
                <a:spcPts val="500"/>
              </a:spcAft>
            </a:pPr>
            <a:r>
              <a:rPr lang="en-IN" sz="1200" dirty="0">
                <a:latin typeface="Times New Roman" panose="02020603050405020304" pitchFamily="18" charset="0"/>
              </a:rPr>
              <a:t># ---------------------- COLLEGE MODEL ----------------------</a:t>
            </a:r>
          </a:p>
          <a:p>
            <a:pPr>
              <a:spcBef>
                <a:spcPts val="500"/>
              </a:spcBef>
              <a:spcAft>
                <a:spcPts val="500"/>
              </a:spcAft>
            </a:pPr>
            <a:r>
              <a:rPr lang="en-IN" sz="1200" dirty="0">
                <a:latin typeface="Times New Roman" panose="02020603050405020304" pitchFamily="18" charset="0"/>
              </a:rPr>
              <a:t>class College(</a:t>
            </a:r>
            <a:r>
              <a:rPr lang="en-IN" sz="1200" dirty="0" err="1">
                <a:latin typeface="Times New Roman" panose="02020603050405020304" pitchFamily="18" charset="0"/>
              </a:rPr>
              <a:t>db.Model</a:t>
            </a:r>
            <a:r>
              <a:rPr lang="en-IN" sz="1200" dirty="0">
                <a:latin typeface="Times New Roman" panose="02020603050405020304" pitchFamily="18" charset="0"/>
              </a:rPr>
              <a:t>):</a:t>
            </a:r>
          </a:p>
          <a:p>
            <a:pPr>
              <a:spcBef>
                <a:spcPts val="500"/>
              </a:spcBef>
              <a:spcAft>
                <a:spcPts val="500"/>
              </a:spcAft>
            </a:pPr>
            <a:r>
              <a:rPr lang="en-IN" sz="1200" dirty="0">
                <a:latin typeface="Times New Roman" panose="02020603050405020304" pitchFamily="18" charset="0"/>
              </a:rPr>
              <a:t>    id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db.Integer</a:t>
            </a:r>
            <a:r>
              <a:rPr lang="en-IN" sz="1200" dirty="0">
                <a:latin typeface="Times New Roman" panose="02020603050405020304" pitchFamily="18" charset="0"/>
              </a:rPr>
              <a:t>, </a:t>
            </a:r>
            <a:r>
              <a:rPr lang="en-IN" sz="1200" dirty="0" err="1">
                <a:latin typeface="Times New Roman" panose="02020603050405020304" pitchFamily="18" charset="0"/>
              </a:rPr>
              <a:t>primary_key</a:t>
            </a:r>
            <a:r>
              <a:rPr lang="en-IN" sz="1200" dirty="0">
                <a:latin typeface="Times New Roman" panose="02020603050405020304" pitchFamily="18" charset="0"/>
              </a:rPr>
              <a:t>=True)</a:t>
            </a:r>
          </a:p>
          <a:p>
            <a:pPr>
              <a:spcBef>
                <a:spcPts val="500"/>
              </a:spcBef>
              <a:spcAft>
                <a:spcPts val="500"/>
              </a:spcAft>
            </a:pPr>
            <a:r>
              <a:rPr lang="en-IN" sz="1200" dirty="0">
                <a:latin typeface="Times New Roman" panose="02020603050405020304" pitchFamily="18" charset="0"/>
              </a:rPr>
              <a:t>    </a:t>
            </a:r>
            <a:r>
              <a:rPr lang="en-IN" sz="1200" dirty="0" err="1">
                <a:latin typeface="Times New Roman" panose="02020603050405020304" pitchFamily="18" charset="0"/>
              </a:rPr>
              <a:t>college_name</a:t>
            </a:r>
            <a:r>
              <a:rPr lang="en-IN" sz="1200" dirty="0">
                <a:latin typeface="Times New Roman" panose="02020603050405020304" pitchFamily="18" charset="0"/>
              </a:rPr>
              <a:t>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db.String</a:t>
            </a:r>
            <a:r>
              <a:rPr lang="en-IN" sz="1200" dirty="0">
                <a:latin typeface="Times New Roman" panose="02020603050405020304" pitchFamily="18" charset="0"/>
              </a:rPr>
              <a:t>(150), </a:t>
            </a:r>
            <a:r>
              <a:rPr lang="en-IN" sz="1200" dirty="0" err="1">
                <a:latin typeface="Times New Roman" panose="02020603050405020304" pitchFamily="18" charset="0"/>
              </a:rPr>
              <a:t>nullable</a:t>
            </a:r>
            <a:r>
              <a:rPr lang="en-IN" sz="1200" dirty="0">
                <a:latin typeface="Times New Roman" panose="02020603050405020304" pitchFamily="18" charset="0"/>
              </a:rPr>
              <a:t>=False)</a:t>
            </a:r>
          </a:p>
          <a:p>
            <a:pPr>
              <a:spcBef>
                <a:spcPts val="500"/>
              </a:spcBef>
              <a:spcAft>
                <a:spcPts val="500"/>
              </a:spcAft>
            </a:pPr>
            <a:r>
              <a:rPr lang="en-IN" sz="1200" dirty="0">
                <a:latin typeface="Times New Roman" panose="02020603050405020304" pitchFamily="18" charset="0"/>
              </a:rPr>
              <a:t>    </a:t>
            </a:r>
            <a:r>
              <a:rPr lang="en-IN" sz="1200" dirty="0" err="1">
                <a:latin typeface="Times New Roman" panose="02020603050405020304" pitchFamily="18" charset="0"/>
              </a:rPr>
              <a:t>course_name</a:t>
            </a:r>
            <a:r>
              <a:rPr lang="en-IN" sz="1200" dirty="0">
                <a:latin typeface="Times New Roman" panose="02020603050405020304" pitchFamily="18" charset="0"/>
              </a:rPr>
              <a:t>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db.String</a:t>
            </a:r>
            <a:r>
              <a:rPr lang="en-IN" sz="1200" dirty="0">
                <a:latin typeface="Times New Roman" panose="02020603050405020304" pitchFamily="18" charset="0"/>
              </a:rPr>
              <a:t>(150))</a:t>
            </a:r>
          </a:p>
          <a:p>
            <a:pPr>
              <a:spcBef>
                <a:spcPts val="500"/>
              </a:spcBef>
              <a:spcAft>
                <a:spcPts val="500"/>
              </a:spcAft>
            </a:pPr>
            <a:r>
              <a:rPr lang="en-IN" sz="1200" dirty="0">
                <a:latin typeface="Times New Roman" panose="02020603050405020304" pitchFamily="18" charset="0"/>
              </a:rPr>
              <a:t>    city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db.String</a:t>
            </a:r>
            <a:r>
              <a:rPr lang="en-IN" sz="1200" dirty="0">
                <a:latin typeface="Times New Roman" panose="02020603050405020304" pitchFamily="18" charset="0"/>
              </a:rPr>
              <a:t>(100))</a:t>
            </a:r>
          </a:p>
          <a:p>
            <a:pPr>
              <a:spcBef>
                <a:spcPts val="500"/>
              </a:spcBef>
              <a:spcAft>
                <a:spcPts val="500"/>
              </a:spcAft>
            </a:pPr>
            <a:r>
              <a:rPr lang="en-IN" sz="1200" dirty="0">
                <a:latin typeface="Times New Roman" panose="02020603050405020304" pitchFamily="18" charset="0"/>
              </a:rPr>
              <a:t>    </a:t>
            </a:r>
            <a:r>
              <a:rPr lang="en-IN" sz="1200" dirty="0" err="1">
                <a:latin typeface="Times New Roman" panose="02020603050405020304" pitchFamily="18" charset="0"/>
              </a:rPr>
              <a:t>college_type</a:t>
            </a:r>
            <a:r>
              <a:rPr lang="en-IN" sz="1200" dirty="0">
                <a:latin typeface="Times New Roman" panose="02020603050405020304" pitchFamily="18" charset="0"/>
              </a:rPr>
              <a:t>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db.String</a:t>
            </a:r>
            <a:r>
              <a:rPr lang="en-IN" sz="1200" dirty="0">
                <a:latin typeface="Times New Roman" panose="02020603050405020304" pitchFamily="18" charset="0"/>
              </a:rPr>
              <a:t>(50</a:t>
            </a:r>
            <a:r>
              <a:rPr lang="en-IN" sz="1200" dirty="0" smtClean="0">
                <a:latin typeface="Times New Roman" panose="02020603050405020304" pitchFamily="18" charset="0"/>
              </a:rPr>
              <a:t>))</a:t>
            </a:r>
            <a:endParaRPr lang="en-IN" sz="1200" dirty="0">
              <a:latin typeface="Times New Roman" panose="02020603050405020304" pitchFamily="18" charset="0"/>
            </a:endParaRPr>
          </a:p>
          <a:p>
            <a:pPr>
              <a:spcBef>
                <a:spcPts val="500"/>
              </a:spcBef>
              <a:spcAft>
                <a:spcPts val="500"/>
              </a:spcAft>
            </a:pPr>
            <a:r>
              <a:rPr lang="en-IN" sz="1200" dirty="0" smtClean="0">
                <a:latin typeface="Times New Roman" panose="02020603050405020304" pitchFamily="18" charset="0"/>
              </a:rPr>
              <a:t>#--------------------- </a:t>
            </a:r>
            <a:r>
              <a:rPr lang="en-IN" sz="1200" dirty="0">
                <a:latin typeface="Times New Roman" panose="02020603050405020304" pitchFamily="18" charset="0"/>
              </a:rPr>
              <a:t>USER RESPONSE MODEL ----------------------</a:t>
            </a:r>
          </a:p>
          <a:p>
            <a:pPr>
              <a:spcBef>
                <a:spcPts val="500"/>
              </a:spcBef>
              <a:spcAft>
                <a:spcPts val="500"/>
              </a:spcAft>
            </a:pPr>
            <a:r>
              <a:rPr lang="en-IN" sz="1200" dirty="0">
                <a:latin typeface="Times New Roman" panose="02020603050405020304" pitchFamily="18" charset="0"/>
              </a:rPr>
              <a:t>class </a:t>
            </a:r>
            <a:r>
              <a:rPr lang="en-IN" sz="1200" dirty="0" err="1">
                <a:latin typeface="Times New Roman" panose="02020603050405020304" pitchFamily="18" charset="0"/>
              </a:rPr>
              <a:t>UserResponse</a:t>
            </a:r>
            <a:r>
              <a:rPr lang="en-IN" sz="1200" dirty="0">
                <a:latin typeface="Times New Roman" panose="02020603050405020304" pitchFamily="18" charset="0"/>
              </a:rPr>
              <a:t>(</a:t>
            </a:r>
            <a:r>
              <a:rPr lang="en-IN" sz="1200" dirty="0" err="1">
                <a:latin typeface="Times New Roman" panose="02020603050405020304" pitchFamily="18" charset="0"/>
              </a:rPr>
              <a:t>db.Model</a:t>
            </a:r>
            <a:r>
              <a:rPr lang="en-IN" sz="1200" dirty="0">
                <a:latin typeface="Times New Roman" panose="02020603050405020304" pitchFamily="18" charset="0"/>
              </a:rPr>
              <a:t>):</a:t>
            </a:r>
          </a:p>
          <a:p>
            <a:pPr>
              <a:spcBef>
                <a:spcPts val="500"/>
              </a:spcBef>
              <a:spcAft>
                <a:spcPts val="500"/>
              </a:spcAft>
            </a:pPr>
            <a:r>
              <a:rPr lang="en-IN" sz="1200" dirty="0">
                <a:latin typeface="Times New Roman" panose="02020603050405020304" pitchFamily="18" charset="0"/>
              </a:rPr>
              <a:t>    id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db.Integer</a:t>
            </a:r>
            <a:r>
              <a:rPr lang="en-IN" sz="1200" dirty="0">
                <a:latin typeface="Times New Roman" panose="02020603050405020304" pitchFamily="18" charset="0"/>
              </a:rPr>
              <a:t>, </a:t>
            </a:r>
            <a:r>
              <a:rPr lang="en-IN" sz="1200" dirty="0" err="1">
                <a:latin typeface="Times New Roman" panose="02020603050405020304" pitchFamily="18" charset="0"/>
              </a:rPr>
              <a:t>primary_key</a:t>
            </a:r>
            <a:r>
              <a:rPr lang="en-IN" sz="1200" dirty="0">
                <a:latin typeface="Times New Roman" panose="02020603050405020304" pitchFamily="18" charset="0"/>
              </a:rPr>
              <a:t>=True)</a:t>
            </a:r>
          </a:p>
          <a:p>
            <a:pPr>
              <a:spcBef>
                <a:spcPts val="500"/>
              </a:spcBef>
              <a:spcAft>
                <a:spcPts val="500"/>
              </a:spcAft>
            </a:pPr>
            <a:r>
              <a:rPr lang="en-IN" sz="1200" dirty="0">
                <a:latin typeface="Times New Roman" panose="02020603050405020304" pitchFamily="18" charset="0"/>
              </a:rPr>
              <a:t>    </a:t>
            </a:r>
            <a:r>
              <a:rPr lang="en-IN" sz="1200" dirty="0" err="1">
                <a:latin typeface="Times New Roman" panose="02020603050405020304" pitchFamily="18" charset="0"/>
              </a:rPr>
              <a:t>user_id</a:t>
            </a:r>
            <a:r>
              <a:rPr lang="en-IN" sz="1200" dirty="0">
                <a:latin typeface="Times New Roman" panose="02020603050405020304" pitchFamily="18" charset="0"/>
              </a:rPr>
              <a:t>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db.Integer</a:t>
            </a:r>
            <a:r>
              <a:rPr lang="en-IN" sz="1200" dirty="0">
                <a:latin typeface="Times New Roman" panose="02020603050405020304" pitchFamily="18" charset="0"/>
              </a:rPr>
              <a:t>, </a:t>
            </a:r>
            <a:r>
              <a:rPr lang="en-IN" sz="1200" dirty="0" err="1">
                <a:latin typeface="Times New Roman" panose="02020603050405020304" pitchFamily="18" charset="0"/>
              </a:rPr>
              <a:t>db.ForeignKey</a:t>
            </a:r>
            <a:r>
              <a:rPr lang="en-IN" sz="1200" dirty="0">
                <a:latin typeface="Times New Roman" panose="02020603050405020304" pitchFamily="18" charset="0"/>
              </a:rPr>
              <a:t>('user.id'))</a:t>
            </a:r>
          </a:p>
          <a:p>
            <a:pPr>
              <a:spcBef>
                <a:spcPts val="500"/>
              </a:spcBef>
              <a:spcAft>
                <a:spcPts val="500"/>
              </a:spcAft>
            </a:pPr>
            <a:r>
              <a:rPr lang="en-IN" sz="1200" dirty="0">
                <a:latin typeface="Times New Roman" panose="02020603050405020304" pitchFamily="18" charset="0"/>
              </a:rPr>
              <a:t>    answers = </a:t>
            </a:r>
            <a:r>
              <a:rPr lang="en-IN" sz="1200" dirty="0" err="1">
                <a:latin typeface="Times New Roman" panose="02020603050405020304" pitchFamily="18" charset="0"/>
              </a:rPr>
              <a:t>db.Column</a:t>
            </a:r>
            <a:r>
              <a:rPr lang="en-IN" sz="1200" dirty="0">
                <a:latin typeface="Times New Roman" panose="02020603050405020304" pitchFamily="18" charset="0"/>
              </a:rPr>
              <a:t>(</a:t>
            </a:r>
            <a:r>
              <a:rPr lang="en-IN" sz="1200" dirty="0" err="1">
                <a:latin typeface="Times New Roman" panose="02020603050405020304" pitchFamily="18" charset="0"/>
              </a:rPr>
              <a:t>db.Text</a:t>
            </a:r>
            <a:r>
              <a:rPr lang="en-IN" sz="1200" dirty="0" smtClean="0">
                <a:latin typeface="Times New Roman" panose="02020603050405020304" pitchFamily="18" charset="0"/>
              </a:rPr>
              <a:t>)</a:t>
            </a:r>
          </a:p>
          <a:p>
            <a:pPr>
              <a:spcBef>
                <a:spcPts val="500"/>
              </a:spcBef>
              <a:spcAft>
                <a:spcPts val="500"/>
              </a:spcAft>
            </a:pPr>
            <a:r>
              <a:rPr lang="en-IN" sz="1200" dirty="0" smtClean="0">
                <a:latin typeface="Times New Roman" panose="02020603050405020304" pitchFamily="18" charset="0"/>
              </a:rPr>
              <a:t># ---------------------- RECOMMENDATION MODEL ----------------------                  </a:t>
            </a:r>
          </a:p>
          <a:p>
            <a:pPr>
              <a:spcBef>
                <a:spcPts val="500"/>
              </a:spcBef>
              <a:spcAft>
                <a:spcPts val="500"/>
              </a:spcAft>
            </a:pPr>
            <a:r>
              <a:rPr lang="en-IN" sz="1200" dirty="0" smtClean="0">
                <a:latin typeface="Times New Roman" panose="02020603050405020304" pitchFamily="18" charset="0"/>
              </a:rPr>
              <a:t>class Recommendation(</a:t>
            </a:r>
            <a:r>
              <a:rPr lang="en-IN" sz="1200" dirty="0" err="1" smtClean="0">
                <a:latin typeface="Times New Roman" panose="02020603050405020304" pitchFamily="18" charset="0"/>
              </a:rPr>
              <a:t>db.Model</a:t>
            </a:r>
            <a:r>
              <a:rPr lang="en-IN" sz="1200" dirty="0" smtClean="0">
                <a:latin typeface="Times New Roman" panose="02020603050405020304" pitchFamily="18" charset="0"/>
              </a:rPr>
              <a:t>):</a:t>
            </a:r>
          </a:p>
          <a:p>
            <a:pPr>
              <a:spcBef>
                <a:spcPts val="500"/>
              </a:spcBef>
              <a:spcAft>
                <a:spcPts val="500"/>
              </a:spcAft>
            </a:pPr>
            <a:r>
              <a:rPr lang="en-IN" sz="1200" dirty="0" smtClean="0">
                <a:latin typeface="Times New Roman" panose="02020603050405020304" pitchFamily="18" charset="0"/>
              </a:rPr>
              <a:t>    </a:t>
            </a:r>
            <a:endParaRPr lang="en-IN" sz="1200" dirty="0">
              <a:latin typeface="Times New Roman" panose="02020603050405020304" pitchFamily="18" charset="0"/>
            </a:endParaRPr>
          </a:p>
        </p:txBody>
      </p:sp>
    </p:spTree>
    <p:extLst>
      <p:ext uri="{BB962C8B-B14F-4D97-AF65-F5344CB8AC3E}">
        <p14:creationId xmlns:p14="http://schemas.microsoft.com/office/powerpoint/2010/main" val="3836409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9891" y="249381"/>
            <a:ext cx="10557164" cy="6976269"/>
          </a:xfrm>
          <a:prstGeom prst="rect">
            <a:avLst/>
          </a:prstGeom>
        </p:spPr>
        <p:txBody>
          <a:bodyPr wrap="square">
            <a:spAutoFit/>
          </a:bodyPr>
          <a:lstStyle/>
          <a:p>
            <a:pPr>
              <a:spcBef>
                <a:spcPts val="500"/>
              </a:spcBef>
              <a:spcAft>
                <a:spcPts val="500"/>
              </a:spcAft>
            </a:pPr>
            <a:r>
              <a:rPr lang="en-IN" sz="1400" dirty="0" smtClean="0">
                <a:latin typeface="Times New Roman" panose="02020603050405020304" pitchFamily="18" charset="0"/>
              </a:rPr>
              <a:t>id = </a:t>
            </a:r>
            <a:r>
              <a:rPr lang="en-IN" sz="1400" dirty="0" err="1" smtClean="0">
                <a:latin typeface="Times New Roman" panose="02020603050405020304" pitchFamily="18" charset="0"/>
              </a:rPr>
              <a:t>db.Column</a:t>
            </a:r>
            <a:r>
              <a:rPr lang="en-IN" sz="1400" dirty="0" smtClean="0">
                <a:latin typeface="Times New Roman" panose="02020603050405020304" pitchFamily="18" charset="0"/>
              </a:rPr>
              <a:t>(</a:t>
            </a:r>
            <a:r>
              <a:rPr lang="en-IN" sz="1400" dirty="0" err="1" smtClean="0">
                <a:latin typeface="Times New Roman" panose="02020603050405020304" pitchFamily="18" charset="0"/>
              </a:rPr>
              <a:t>db.Integer</a:t>
            </a:r>
            <a:r>
              <a:rPr lang="en-IN" sz="1400" dirty="0" smtClean="0">
                <a:latin typeface="Times New Roman" panose="02020603050405020304" pitchFamily="18" charset="0"/>
              </a:rPr>
              <a:t>, </a:t>
            </a:r>
            <a:r>
              <a:rPr lang="en-IN" sz="1400" dirty="0" err="1" smtClean="0">
                <a:latin typeface="Times New Roman" panose="02020603050405020304" pitchFamily="18" charset="0"/>
              </a:rPr>
              <a:t>primary_key</a:t>
            </a:r>
            <a:r>
              <a:rPr lang="en-IN" sz="1400" dirty="0" smtClean="0">
                <a:latin typeface="Times New Roman" panose="02020603050405020304" pitchFamily="18" charset="0"/>
              </a:rPr>
              <a:t>=True)</a:t>
            </a:r>
          </a:p>
          <a:p>
            <a:pPr>
              <a:spcBef>
                <a:spcPts val="500"/>
              </a:spcBef>
              <a:spcAft>
                <a:spcPts val="500"/>
              </a:spcAft>
            </a:pPr>
            <a:r>
              <a:rPr lang="en-IN" sz="1400" dirty="0" err="1" smtClean="0">
                <a:latin typeface="Times New Roman" panose="02020603050405020304" pitchFamily="18" charset="0"/>
              </a:rPr>
              <a:t>predicted_course</a:t>
            </a:r>
            <a:r>
              <a:rPr lang="en-IN" sz="1400" dirty="0" smtClean="0">
                <a:latin typeface="Times New Roman" panose="02020603050405020304" pitchFamily="18" charset="0"/>
              </a:rPr>
              <a:t> </a:t>
            </a:r>
            <a:r>
              <a:rPr lang="en-IN" sz="1400" dirty="0">
                <a:latin typeface="Times New Roman" panose="02020603050405020304" pitchFamily="18" charset="0"/>
              </a:rPr>
              <a:t>= </a:t>
            </a:r>
            <a:r>
              <a:rPr lang="en-IN" sz="1400" dirty="0" err="1">
                <a:latin typeface="Times New Roman" panose="02020603050405020304" pitchFamily="18" charset="0"/>
              </a:rPr>
              <a:t>db.Column</a:t>
            </a:r>
            <a:r>
              <a:rPr lang="en-IN" sz="1400" dirty="0">
                <a:latin typeface="Times New Roman" panose="02020603050405020304" pitchFamily="18" charset="0"/>
              </a:rPr>
              <a:t>(</a:t>
            </a:r>
            <a:r>
              <a:rPr lang="en-IN" sz="1400" dirty="0" err="1">
                <a:latin typeface="Times New Roman" panose="02020603050405020304" pitchFamily="18" charset="0"/>
              </a:rPr>
              <a:t>db.String</a:t>
            </a:r>
            <a:r>
              <a:rPr lang="en-IN" sz="1400" dirty="0">
                <a:latin typeface="Times New Roman" panose="02020603050405020304" pitchFamily="18" charset="0"/>
              </a:rPr>
              <a:t>(150</a:t>
            </a:r>
            <a:r>
              <a:rPr lang="en-IN" sz="1400" dirty="0" smtClean="0">
                <a:latin typeface="Times New Roman" panose="02020603050405020304" pitchFamily="18" charset="0"/>
              </a:rPr>
              <a:t>))</a:t>
            </a:r>
            <a:endParaRPr lang="en-IN" sz="1400" dirty="0">
              <a:latin typeface="Times New Roman" panose="02020603050405020304" pitchFamily="18" charset="0"/>
            </a:endParaRPr>
          </a:p>
          <a:p>
            <a:pPr>
              <a:spcBef>
                <a:spcPts val="500"/>
              </a:spcBef>
              <a:spcAft>
                <a:spcPts val="500"/>
              </a:spcAft>
            </a:pPr>
            <a:r>
              <a:rPr lang="en-IN" sz="1400" dirty="0">
                <a:latin typeface="Times New Roman" panose="02020603050405020304" pitchFamily="18" charset="0"/>
              </a:rPr>
              <a:t># ---------------------- KNN ALGORITHM ----------------------</a:t>
            </a:r>
          </a:p>
          <a:p>
            <a:pPr>
              <a:spcBef>
                <a:spcPts val="500"/>
              </a:spcBef>
              <a:spcAft>
                <a:spcPts val="500"/>
              </a:spcAft>
            </a:pPr>
            <a:r>
              <a:rPr lang="en-IN" sz="1400" dirty="0" err="1">
                <a:latin typeface="Times New Roman" panose="02020603050405020304" pitchFamily="18" charset="0"/>
              </a:rPr>
              <a:t>def</a:t>
            </a:r>
            <a:r>
              <a:rPr lang="en-IN" sz="1400" dirty="0">
                <a:latin typeface="Times New Roman" panose="02020603050405020304" pitchFamily="18" charset="0"/>
              </a:rPr>
              <a:t> </a:t>
            </a:r>
            <a:r>
              <a:rPr lang="en-IN" sz="1400" dirty="0" err="1">
                <a:latin typeface="Times New Roman" panose="02020603050405020304" pitchFamily="18" charset="0"/>
              </a:rPr>
              <a:t>predict_course</a:t>
            </a:r>
            <a:r>
              <a:rPr lang="en-IN" sz="1400" dirty="0">
                <a:latin typeface="Times New Roman" panose="02020603050405020304" pitchFamily="18" charset="0"/>
              </a:rPr>
              <a:t>(</a:t>
            </a:r>
            <a:r>
              <a:rPr lang="en-IN" sz="1400" dirty="0" err="1">
                <a:latin typeface="Times New Roman" panose="02020603050405020304" pitchFamily="18" charset="0"/>
              </a:rPr>
              <a:t>user_input</a:t>
            </a:r>
            <a:r>
              <a:rPr lang="en-IN" sz="1400" dirty="0">
                <a:latin typeface="Times New Roman" panose="02020603050405020304" pitchFamily="18" charset="0"/>
              </a:rPr>
              <a:t>, </a:t>
            </a:r>
            <a:r>
              <a:rPr lang="en-IN" sz="1400" dirty="0" err="1">
                <a:latin typeface="Times New Roman" panose="02020603050405020304" pitchFamily="18" charset="0"/>
              </a:rPr>
              <a:t>X_train</a:t>
            </a:r>
            <a:r>
              <a:rPr lang="en-IN" sz="1400" dirty="0">
                <a:latin typeface="Times New Roman" panose="02020603050405020304" pitchFamily="18" charset="0"/>
              </a:rPr>
              <a:t>, </a:t>
            </a:r>
            <a:r>
              <a:rPr lang="en-IN" sz="1400" dirty="0" err="1">
                <a:latin typeface="Times New Roman" panose="02020603050405020304" pitchFamily="18" charset="0"/>
              </a:rPr>
              <a:t>y_train</a:t>
            </a:r>
            <a:r>
              <a:rPr lang="en-IN" sz="1400" dirty="0">
                <a:latin typeface="Times New Roman" panose="02020603050405020304" pitchFamily="18" charset="0"/>
              </a:rPr>
              <a:t>, k=3):</a:t>
            </a:r>
          </a:p>
          <a:p>
            <a:pPr>
              <a:spcBef>
                <a:spcPts val="500"/>
              </a:spcBef>
              <a:spcAft>
                <a:spcPts val="500"/>
              </a:spcAft>
            </a:pPr>
            <a:r>
              <a:rPr lang="en-IN" sz="1400" dirty="0">
                <a:latin typeface="Times New Roman" panose="02020603050405020304" pitchFamily="18" charset="0"/>
              </a:rPr>
              <a:t>    model = </a:t>
            </a:r>
            <a:r>
              <a:rPr lang="en-IN" sz="1400" dirty="0" err="1">
                <a:latin typeface="Times New Roman" panose="02020603050405020304" pitchFamily="18" charset="0"/>
              </a:rPr>
              <a:t>KNeighborsClassifier</a:t>
            </a:r>
            <a:r>
              <a:rPr lang="en-IN" sz="1400" dirty="0">
                <a:latin typeface="Times New Roman" panose="02020603050405020304" pitchFamily="18" charset="0"/>
              </a:rPr>
              <a:t>(</a:t>
            </a:r>
            <a:r>
              <a:rPr lang="en-IN" sz="1400" dirty="0" err="1">
                <a:latin typeface="Times New Roman" panose="02020603050405020304" pitchFamily="18" charset="0"/>
              </a:rPr>
              <a:t>n_neighbors</a:t>
            </a:r>
            <a:r>
              <a:rPr lang="en-IN" sz="1400" dirty="0">
                <a:latin typeface="Times New Roman" panose="02020603050405020304" pitchFamily="18" charset="0"/>
              </a:rPr>
              <a:t>=k)</a:t>
            </a:r>
          </a:p>
          <a:p>
            <a:pPr>
              <a:spcBef>
                <a:spcPts val="500"/>
              </a:spcBef>
              <a:spcAft>
                <a:spcPts val="500"/>
              </a:spcAft>
            </a:pPr>
            <a:r>
              <a:rPr lang="en-IN" sz="1400" dirty="0">
                <a:latin typeface="Times New Roman" panose="02020603050405020304" pitchFamily="18" charset="0"/>
              </a:rPr>
              <a:t>    </a:t>
            </a:r>
            <a:r>
              <a:rPr lang="en-IN" sz="1400" dirty="0" err="1">
                <a:latin typeface="Times New Roman" panose="02020603050405020304" pitchFamily="18" charset="0"/>
              </a:rPr>
              <a:t>model.fit</a:t>
            </a:r>
            <a:r>
              <a:rPr lang="en-IN" sz="1400" dirty="0">
                <a:latin typeface="Times New Roman" panose="02020603050405020304" pitchFamily="18" charset="0"/>
              </a:rPr>
              <a:t>(</a:t>
            </a:r>
            <a:r>
              <a:rPr lang="en-IN" sz="1400" dirty="0" err="1">
                <a:latin typeface="Times New Roman" panose="02020603050405020304" pitchFamily="18" charset="0"/>
              </a:rPr>
              <a:t>X_train</a:t>
            </a:r>
            <a:r>
              <a:rPr lang="en-IN" sz="1400" dirty="0">
                <a:latin typeface="Times New Roman" panose="02020603050405020304" pitchFamily="18" charset="0"/>
              </a:rPr>
              <a:t>, </a:t>
            </a:r>
            <a:r>
              <a:rPr lang="en-IN" sz="1400" dirty="0" err="1">
                <a:latin typeface="Times New Roman" panose="02020603050405020304" pitchFamily="18" charset="0"/>
              </a:rPr>
              <a:t>y_train</a:t>
            </a:r>
            <a:r>
              <a:rPr lang="en-IN" sz="1400" dirty="0">
                <a:latin typeface="Times New Roman" panose="02020603050405020304" pitchFamily="18" charset="0"/>
              </a:rPr>
              <a:t>)</a:t>
            </a:r>
          </a:p>
          <a:p>
            <a:pPr>
              <a:spcBef>
                <a:spcPts val="500"/>
              </a:spcBef>
              <a:spcAft>
                <a:spcPts val="500"/>
              </a:spcAft>
            </a:pPr>
            <a:r>
              <a:rPr lang="en-IN" sz="1400" dirty="0" smtClean="0">
                <a:latin typeface="Times New Roman" panose="02020603050405020304" pitchFamily="18" charset="0"/>
              </a:rPr>
              <a:t>     </a:t>
            </a:r>
            <a:r>
              <a:rPr lang="en-IN" sz="1400" dirty="0" err="1" smtClean="0">
                <a:latin typeface="Times New Roman" panose="02020603050405020304" pitchFamily="18" charset="0"/>
              </a:rPr>
              <a:t>user_input</a:t>
            </a:r>
            <a:r>
              <a:rPr lang="en-IN" sz="1400" dirty="0" smtClean="0">
                <a:latin typeface="Times New Roman" panose="02020603050405020304" pitchFamily="18" charset="0"/>
              </a:rPr>
              <a:t> </a:t>
            </a:r>
            <a:r>
              <a:rPr lang="en-IN" sz="1400" dirty="0">
                <a:latin typeface="Times New Roman" panose="02020603050405020304" pitchFamily="18" charset="0"/>
              </a:rPr>
              <a:t>= </a:t>
            </a:r>
            <a:r>
              <a:rPr lang="en-IN" sz="1400" dirty="0" err="1">
                <a:latin typeface="Times New Roman" panose="02020603050405020304" pitchFamily="18" charset="0"/>
              </a:rPr>
              <a:t>np.array</a:t>
            </a:r>
            <a:r>
              <a:rPr lang="en-IN" sz="1400" dirty="0">
                <a:latin typeface="Times New Roman" panose="02020603050405020304" pitchFamily="18" charset="0"/>
              </a:rPr>
              <a:t>(</a:t>
            </a:r>
            <a:r>
              <a:rPr lang="en-IN" sz="1400" dirty="0" err="1">
                <a:latin typeface="Times New Roman" panose="02020603050405020304" pitchFamily="18" charset="0"/>
              </a:rPr>
              <a:t>user_input</a:t>
            </a:r>
            <a:r>
              <a:rPr lang="en-IN" sz="1400" dirty="0">
                <a:latin typeface="Times New Roman" panose="02020603050405020304" pitchFamily="18" charset="0"/>
              </a:rPr>
              <a:t>).reshape(1, -1)</a:t>
            </a:r>
          </a:p>
          <a:p>
            <a:pPr>
              <a:spcBef>
                <a:spcPts val="500"/>
              </a:spcBef>
              <a:spcAft>
                <a:spcPts val="500"/>
              </a:spcAft>
            </a:pPr>
            <a:r>
              <a:rPr lang="en-IN" sz="1400" dirty="0">
                <a:latin typeface="Times New Roman" panose="02020603050405020304" pitchFamily="18" charset="0"/>
              </a:rPr>
              <a:t>    prediction = </a:t>
            </a:r>
            <a:r>
              <a:rPr lang="en-IN" sz="1400" dirty="0" err="1">
                <a:latin typeface="Times New Roman" panose="02020603050405020304" pitchFamily="18" charset="0"/>
              </a:rPr>
              <a:t>model.predict</a:t>
            </a:r>
            <a:r>
              <a:rPr lang="en-IN" sz="1400" dirty="0">
                <a:latin typeface="Times New Roman" panose="02020603050405020304" pitchFamily="18" charset="0"/>
              </a:rPr>
              <a:t>(</a:t>
            </a:r>
            <a:r>
              <a:rPr lang="en-IN" sz="1400" dirty="0" err="1">
                <a:latin typeface="Times New Roman" panose="02020603050405020304" pitchFamily="18" charset="0"/>
              </a:rPr>
              <a:t>user_input</a:t>
            </a:r>
            <a:r>
              <a:rPr lang="en-IN" sz="1400" dirty="0">
                <a:latin typeface="Times New Roman" panose="02020603050405020304" pitchFamily="18" charset="0"/>
              </a:rPr>
              <a:t>)</a:t>
            </a:r>
          </a:p>
          <a:p>
            <a:pPr>
              <a:spcBef>
                <a:spcPts val="500"/>
              </a:spcBef>
              <a:spcAft>
                <a:spcPts val="500"/>
              </a:spcAft>
            </a:pPr>
            <a:r>
              <a:rPr lang="en-IN" sz="1400" dirty="0">
                <a:latin typeface="Times New Roman" panose="02020603050405020304" pitchFamily="18" charset="0"/>
              </a:rPr>
              <a:t>   return prediction[0</a:t>
            </a:r>
            <a:r>
              <a:rPr lang="en-IN" sz="1400" dirty="0" smtClean="0">
                <a:latin typeface="Times New Roman" panose="02020603050405020304" pitchFamily="18" charset="0"/>
              </a:rPr>
              <a:t>]</a:t>
            </a:r>
          </a:p>
          <a:p>
            <a:r>
              <a:rPr lang="en-IN" sz="1400" dirty="0" smtClean="0"/>
              <a:t># ---------------------- SAMPLE USAGE ----------------------</a:t>
            </a:r>
          </a:p>
          <a:p>
            <a:r>
              <a:rPr lang="en-IN" sz="1400" dirty="0" err="1" smtClean="0"/>
              <a:t>def</a:t>
            </a:r>
            <a:r>
              <a:rPr lang="en-IN" sz="1400" dirty="0" smtClean="0"/>
              <a:t> </a:t>
            </a:r>
            <a:r>
              <a:rPr lang="en-IN" sz="1400" dirty="0" err="1" smtClean="0"/>
              <a:t>get_recommendation</a:t>
            </a:r>
            <a:r>
              <a:rPr lang="en-IN" sz="1400" dirty="0" smtClean="0"/>
              <a:t>(</a:t>
            </a:r>
            <a:r>
              <a:rPr lang="en-IN" sz="1400" dirty="0" err="1" smtClean="0"/>
              <a:t>user_answers</a:t>
            </a:r>
            <a:r>
              <a:rPr lang="en-IN" sz="1400" dirty="0" smtClean="0"/>
              <a:t>):</a:t>
            </a:r>
          </a:p>
          <a:p>
            <a:r>
              <a:rPr lang="en-IN" sz="1400" dirty="0" smtClean="0"/>
              <a:t>    # Example training data (replace with real dataset)</a:t>
            </a:r>
          </a:p>
          <a:p>
            <a:r>
              <a:rPr lang="en-IN" sz="1400" dirty="0" smtClean="0"/>
              <a:t>    </a:t>
            </a:r>
            <a:r>
              <a:rPr lang="en-IN" sz="1400" dirty="0" err="1" smtClean="0"/>
              <a:t>X_train</a:t>
            </a:r>
            <a:r>
              <a:rPr lang="en-IN" sz="1400" dirty="0" smtClean="0"/>
              <a:t> = [</a:t>
            </a:r>
          </a:p>
          <a:p>
            <a:r>
              <a:rPr lang="en-IN" sz="1400" dirty="0" smtClean="0"/>
              <a:t>        [5,4,1,0],   # Arts</a:t>
            </a:r>
          </a:p>
          <a:p>
            <a:r>
              <a:rPr lang="en-IN" sz="1400" dirty="0" smtClean="0"/>
              <a:t>        [1,2,5,4],   # Science</a:t>
            </a:r>
          </a:p>
          <a:p>
            <a:r>
              <a:rPr lang="en-IN" sz="1400" dirty="0" smtClean="0"/>
              <a:t>        [3,5,2,4]    # Commerce</a:t>
            </a:r>
          </a:p>
          <a:p>
            <a:r>
              <a:rPr lang="en-IN" sz="1400" dirty="0" smtClean="0"/>
              <a:t>    ]</a:t>
            </a:r>
          </a:p>
          <a:p>
            <a:r>
              <a:rPr lang="en-IN" sz="1400" dirty="0" smtClean="0"/>
              <a:t> </a:t>
            </a:r>
            <a:r>
              <a:rPr lang="en-IN" sz="1400" dirty="0" err="1" smtClean="0"/>
              <a:t>y_train</a:t>
            </a:r>
            <a:r>
              <a:rPr lang="en-IN" sz="1400" dirty="0" smtClean="0"/>
              <a:t> = [</a:t>
            </a:r>
          </a:p>
          <a:p>
            <a:r>
              <a:rPr lang="en-IN" sz="1400" dirty="0" smtClean="0"/>
              <a:t>        "Diploma in Fashion Design",</a:t>
            </a:r>
          </a:p>
          <a:p>
            <a:r>
              <a:rPr lang="en-IN" sz="1400" dirty="0" smtClean="0"/>
              <a:t>        "BSc Computer Science",</a:t>
            </a:r>
          </a:p>
          <a:p>
            <a:r>
              <a:rPr lang="en-IN" sz="1400" dirty="0" smtClean="0"/>
              <a:t>        "</a:t>
            </a:r>
            <a:r>
              <a:rPr lang="en-IN" sz="1400" dirty="0" err="1" smtClean="0"/>
              <a:t>BCom</a:t>
            </a:r>
            <a:r>
              <a:rPr lang="en-IN" sz="1400" dirty="0" smtClean="0"/>
              <a:t>"</a:t>
            </a:r>
          </a:p>
          <a:p>
            <a:r>
              <a:rPr lang="en-IN" sz="1400" dirty="0" smtClean="0"/>
              <a:t>    ]</a:t>
            </a:r>
          </a:p>
          <a:p>
            <a:r>
              <a:rPr lang="en-IN" sz="1400" dirty="0" smtClean="0"/>
              <a:t>predicted = </a:t>
            </a:r>
            <a:r>
              <a:rPr lang="en-IN" sz="1400" dirty="0" err="1" smtClean="0"/>
              <a:t>predict_course</a:t>
            </a:r>
            <a:r>
              <a:rPr lang="en-IN" sz="1400" dirty="0" smtClean="0"/>
              <a:t>(</a:t>
            </a:r>
            <a:r>
              <a:rPr lang="en-IN" sz="1400" dirty="0" err="1" smtClean="0"/>
              <a:t>user_answers</a:t>
            </a:r>
            <a:r>
              <a:rPr lang="en-IN" sz="1400" dirty="0" smtClean="0"/>
              <a:t>, </a:t>
            </a:r>
            <a:r>
              <a:rPr lang="en-IN" sz="1400" dirty="0" err="1" smtClean="0"/>
              <a:t>X_train</a:t>
            </a:r>
            <a:r>
              <a:rPr lang="en-IN" sz="1400" dirty="0" smtClean="0"/>
              <a:t>, </a:t>
            </a:r>
            <a:r>
              <a:rPr lang="en-IN" sz="1400" dirty="0" err="1" smtClean="0"/>
              <a:t>y_train</a:t>
            </a:r>
            <a:endParaRPr lang="en-IN" sz="1400" dirty="0" smtClean="0"/>
          </a:p>
          <a:p>
            <a:r>
              <a:rPr lang="en-IN" sz="1400" dirty="0" smtClean="0"/>
              <a:t>return predicted</a:t>
            </a:r>
          </a:p>
          <a:p>
            <a:pPr>
              <a:spcBef>
                <a:spcPts val="500"/>
              </a:spcBef>
              <a:spcAft>
                <a:spcPts val="500"/>
              </a:spcAft>
            </a:pPr>
            <a:endParaRPr lang="en-IN" sz="1400" dirty="0" smtClean="0">
              <a:latin typeface="Times New Roman" panose="02020603050405020304" pitchFamily="18" charset="0"/>
            </a:endParaRPr>
          </a:p>
          <a:p>
            <a:pPr>
              <a:spcBef>
                <a:spcPts val="500"/>
              </a:spcBef>
              <a:spcAft>
                <a:spcPts val="500"/>
              </a:spcAft>
            </a:pPr>
            <a:endParaRPr lang="en-IN" sz="1400" dirty="0" smtClean="0">
              <a:latin typeface="Times New Roman" panose="02020603050405020304" pitchFamily="18" charset="0"/>
            </a:endParaRPr>
          </a:p>
        </p:txBody>
      </p:sp>
    </p:spTree>
    <p:extLst>
      <p:ext uri="{BB962C8B-B14F-4D97-AF65-F5344CB8AC3E}">
        <p14:creationId xmlns:p14="http://schemas.microsoft.com/office/powerpoint/2010/main" val="3001646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1795</Words>
  <Application>Microsoft Office PowerPoint</Application>
  <PresentationFormat>Widescreen</PresentationFormat>
  <Paragraphs>179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SMART CAREER GUIDANCE AND COURSE RECOMMENDATION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uzer</dc:creator>
  <cp:lastModifiedBy>uzer</cp:lastModifiedBy>
  <cp:revision>6</cp:revision>
  <dcterms:created xsi:type="dcterms:W3CDTF">2026-06-01T08:17:08Z</dcterms:created>
  <dcterms:modified xsi:type="dcterms:W3CDTF">2026-06-01T08:56:44Z</dcterms:modified>
</cp:coreProperties>
</file>